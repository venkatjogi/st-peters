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-292608"/>
            <a:ext cx="658368" cy="65836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56032" y="6236208"/>
            <a:ext cx="566928" cy="56692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075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915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107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622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138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1695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685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200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2319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075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5915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7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622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138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653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1695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685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200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716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2319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60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075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5915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107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622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138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653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1695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685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200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716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82319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60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075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35915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107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22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5138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653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1695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6685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200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716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82319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075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5915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107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622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138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5653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1695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6685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7200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7716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82319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560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3075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35915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4107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4622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138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653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61695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6685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7200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716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82319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" y="6583680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91A6C0"/>
                </a:solidFill>
                <a:latin typeface="Avenir Next"/>
              </a:rPr>
              <a:t>FROM AI TO AGENTS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91A6C0"/>
                </a:solidFill>
                <a:latin typeface="Avenir Next"/>
              </a:rPr>
              <a:t>01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640080" y="566928"/>
            <a:ext cx="2084831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0080" y="576072"/>
            <a:ext cx="208483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INTELLIGENT SYSTEMS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1207008"/>
            <a:ext cx="7132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91A6C0"/>
                </a:solidFill>
                <a:latin typeface="Avenir Next"/>
              </a:rPr>
              <a:t>FROM AI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" y="1874519"/>
            <a:ext cx="7589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4F8FF"/>
                </a:solidFill>
                <a:latin typeface="Avenir Next"/>
              </a:rPr>
              <a:t>TO AGENTS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8368" y="2834640"/>
            <a:ext cx="7132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7E6D5"/>
                </a:solidFill>
                <a:latin typeface="Avenir Next"/>
              </a:rPr>
              <a:t>Building intelligent systems from single to multi-agent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8368" y="3840480"/>
            <a:ext cx="6172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91A6C0"/>
                </a:solidFill>
                <a:latin typeface="Avenir Next"/>
              </a:rPr>
              <a:t>Reason. Use tools. Take action. Collaborate—with control.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58368" y="5074920"/>
            <a:ext cx="2103120" cy="310896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58368" y="5084064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B454"/>
                </a:solidFill>
                <a:latin typeface="Avenir Next"/>
              </a:rPr>
              <a:t>GEMINI API DEMOS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58368" y="565099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1A6C0"/>
                </a:solidFill>
                <a:latin typeface="Avenir Next"/>
              </a:rPr>
              <a:t>ST. PETER'S  •  ADVANCED SESSION DECK</a:t>
            </a:r>
          </a:p>
        </p:txBody>
      </p:sp>
      <p:sp>
        <p:nvSpPr>
          <p:cNvPr id="88" name="Oval 87"/>
          <p:cNvSpPr/>
          <p:nvPr/>
        </p:nvSpPr>
        <p:spPr>
          <a:xfrm>
            <a:off x="8732520" y="2331720"/>
            <a:ext cx="1417320" cy="1417320"/>
          </a:xfrm>
          <a:prstGeom prst="ellipse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>
                <a:solidFill>
                  <a:srgbClr val="060B18"/>
                </a:solidFill>
                <a:latin typeface="Avenir Next"/>
              </a:rPr>
              <a:t>AI</a:t>
            </a:r>
          </a:p>
        </p:txBody>
      </p:sp>
      <p:cxnSp>
        <p:nvCxnSpPr>
          <p:cNvPr id="89" name="Connector 88"/>
          <p:cNvCxnSpPr/>
          <p:nvPr/>
        </p:nvCxnSpPr>
        <p:spPr>
          <a:xfrm flipH="1" flipV="1">
            <a:off x="7955279" y="1325880"/>
            <a:ext cx="1481329" cy="1709928"/>
          </a:xfrm>
          <a:prstGeom prst="line">
            <a:avLst/>
          </a:prstGeom>
          <a:ln w="1905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7543800" y="914400"/>
            <a:ext cx="822960" cy="822960"/>
          </a:xfrm>
          <a:prstGeom prst="ellipse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60B18"/>
                </a:solidFill>
                <a:latin typeface="Avenir Next"/>
              </a:rPr>
              <a:t>M</a:t>
            </a:r>
          </a:p>
        </p:txBody>
      </p:sp>
      <p:cxnSp>
        <p:nvCxnSpPr>
          <p:cNvPr id="91" name="Connector 90"/>
          <p:cNvCxnSpPr/>
          <p:nvPr/>
        </p:nvCxnSpPr>
        <p:spPr>
          <a:xfrm flipV="1">
            <a:off x="9436608" y="1303020"/>
            <a:ext cx="1056132" cy="1732788"/>
          </a:xfrm>
          <a:prstGeom prst="line">
            <a:avLst/>
          </a:prstGeom>
          <a:ln w="1905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10012680" y="822960"/>
            <a:ext cx="960120" cy="960120"/>
          </a:xfrm>
          <a:prstGeom prst="ellipse">
            <a:avLst/>
          </a:prstGeom>
          <a:solidFill>
            <a:srgbClr val="93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60B18"/>
                </a:solidFill>
                <a:latin typeface="Avenir Next"/>
              </a:rPr>
              <a:t>T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9436608" y="3035808"/>
            <a:ext cx="1225296" cy="493776"/>
          </a:xfrm>
          <a:prstGeom prst="line">
            <a:avLst/>
          </a:prstGeom>
          <a:ln w="1905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10287000" y="3154680"/>
            <a:ext cx="749808" cy="749808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60B18"/>
                </a:solidFill>
                <a:latin typeface="Avenir Next"/>
              </a:rPr>
              <a:t>A</a:t>
            </a:r>
          </a:p>
        </p:txBody>
      </p:sp>
      <p:cxnSp>
        <p:nvCxnSpPr>
          <p:cNvPr id="95" name="Connector 94"/>
          <p:cNvCxnSpPr/>
          <p:nvPr/>
        </p:nvCxnSpPr>
        <p:spPr>
          <a:xfrm flipH="1">
            <a:off x="9381744" y="3035808"/>
            <a:ext cx="54864" cy="1956816"/>
          </a:xfrm>
          <a:prstGeom prst="line">
            <a:avLst/>
          </a:prstGeom>
          <a:ln w="1905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Oval 95"/>
          <p:cNvSpPr/>
          <p:nvPr/>
        </p:nvSpPr>
        <p:spPr>
          <a:xfrm>
            <a:off x="8961120" y="4572000"/>
            <a:ext cx="841248" cy="841248"/>
          </a:xfrm>
          <a:prstGeom prst="ellipse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60B18"/>
                </a:solidFill>
                <a:latin typeface="Avenir Next"/>
              </a:rPr>
              <a:t>R</a:t>
            </a:r>
          </a:p>
        </p:txBody>
      </p:sp>
      <p:cxnSp>
        <p:nvCxnSpPr>
          <p:cNvPr id="97" name="Connector 96"/>
          <p:cNvCxnSpPr/>
          <p:nvPr/>
        </p:nvCxnSpPr>
        <p:spPr>
          <a:xfrm flipH="1">
            <a:off x="7475220" y="3035808"/>
            <a:ext cx="1961388" cy="1284732"/>
          </a:xfrm>
          <a:prstGeom prst="line">
            <a:avLst/>
          </a:prstGeom>
          <a:ln w="1905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Oval 97"/>
          <p:cNvSpPr/>
          <p:nvPr/>
        </p:nvSpPr>
        <p:spPr>
          <a:xfrm>
            <a:off x="6995160" y="3840480"/>
            <a:ext cx="960120" cy="96012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60B18"/>
                </a:solidFill>
                <a:latin typeface="Avenir Next"/>
              </a:rPr>
              <a:t>G</a:t>
            </a:r>
          </a:p>
        </p:txBody>
      </p:sp>
      <p:sp>
        <p:nvSpPr>
          <p:cNvPr id="99" name="Oval 98"/>
          <p:cNvSpPr/>
          <p:nvPr/>
        </p:nvSpPr>
        <p:spPr>
          <a:xfrm>
            <a:off x="7040880" y="594360"/>
            <a:ext cx="201168" cy="201168"/>
          </a:xfrm>
          <a:prstGeom prst="ellipse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155680" y="2011680"/>
            <a:ext cx="274320" cy="274320"/>
          </a:xfrm>
          <a:prstGeom prst="ellipse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8046720" y="5166360"/>
            <a:ext cx="164592" cy="164592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0789920" y="4754880"/>
            <a:ext cx="219456" cy="219456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-292608"/>
            <a:ext cx="658368" cy="65836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56032" y="6236208"/>
            <a:ext cx="566928" cy="56692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075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915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107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622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138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1695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685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200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2319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075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5915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7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622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138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653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1695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685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200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716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2319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60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075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5915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107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622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138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653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1695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685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200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716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82319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60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075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35915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107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22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5138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653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1695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6685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200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716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82319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075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5915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107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622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138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5653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1695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6685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7200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7716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82319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560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3075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35915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4107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4622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138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653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61695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6685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7200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716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82319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" y="6583680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91A6C0"/>
                </a:solidFill>
                <a:latin typeface="Avenir Next"/>
              </a:rPr>
              <a:t>FROM AI TO AGENTS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91A6C0"/>
                </a:solidFill>
                <a:latin typeface="Avenir Next"/>
              </a:rPr>
              <a:t>02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48640" y="384048"/>
            <a:ext cx="160020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393192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OUTCOMES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85039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4F8FF"/>
                </a:solidFill>
                <a:latin typeface="Avenir Next"/>
              </a:rPr>
              <a:t>What this session enables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66928" y="1627632"/>
            <a:ext cx="3456432" cy="129844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49808" y="1792224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7E6D5"/>
                </a:solidFill>
                <a:latin typeface="Avenir Next"/>
              </a:rPr>
              <a:t>01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80160" y="1783080"/>
            <a:ext cx="2423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EVOLUTION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80160" y="2194560"/>
            <a:ext cx="2423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1A6C0"/>
                </a:solidFill>
                <a:latin typeface="Avenir Next"/>
              </a:rPr>
              <a:t>AI → GenAI → agents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334256" y="1627632"/>
            <a:ext cx="3456432" cy="129844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517136" y="1792224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368FF"/>
                </a:solidFill>
                <a:latin typeface="Avenir Next"/>
              </a:rPr>
              <a:t>02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47488" y="1783080"/>
            <a:ext cx="2423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ANATOMY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47488" y="2194560"/>
            <a:ext cx="2423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1A6C0"/>
                </a:solidFill>
                <a:latin typeface="Avenir Next"/>
              </a:rPr>
              <a:t>model • tools • memory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101583" y="1627632"/>
            <a:ext cx="3456432" cy="129844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284463" y="1792224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B8CFF"/>
                </a:solidFill>
                <a:latin typeface="Avenir Next"/>
              </a:rPr>
              <a:t>03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814815" y="1783080"/>
            <a:ext cx="2423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SINGLE AGENT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814815" y="2194560"/>
            <a:ext cx="2423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1A6C0"/>
                </a:solidFill>
                <a:latin typeface="Avenir Next"/>
              </a:rPr>
              <a:t>design one reliable loop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66928" y="3200400"/>
            <a:ext cx="3456432" cy="129844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49808" y="336499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472B6"/>
                </a:solidFill>
                <a:latin typeface="Avenir Next"/>
              </a:rPr>
              <a:t>04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280160" y="3355848"/>
            <a:ext cx="2423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MULTI-AGENT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80160" y="3767328"/>
            <a:ext cx="2423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1A6C0"/>
                </a:solidFill>
                <a:latin typeface="Avenir Next"/>
              </a:rPr>
              <a:t>coordinate specialists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334256" y="3200400"/>
            <a:ext cx="3456432" cy="129844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517136" y="336499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B454"/>
                </a:solidFill>
                <a:latin typeface="Avenir Next"/>
              </a:rPr>
              <a:t>05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047488" y="3355848"/>
            <a:ext cx="2423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DECISION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047488" y="3767328"/>
            <a:ext cx="2423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1A6C0"/>
                </a:solidFill>
                <a:latin typeface="Avenir Next"/>
              </a:rPr>
              <a:t>choose the right pattern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101583" y="3200400"/>
            <a:ext cx="3456432" cy="129844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284463" y="336499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3D17A"/>
                </a:solidFill>
                <a:latin typeface="Avenir Next"/>
              </a:rPr>
              <a:t>06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814815" y="3355848"/>
            <a:ext cx="2423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PRODUCTION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814815" y="3767328"/>
            <a:ext cx="2423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1A6C0"/>
                </a:solidFill>
                <a:latin typeface="Avenir Next"/>
              </a:rPr>
              <a:t>evaluate, govern, observe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66928" y="4983480"/>
            <a:ext cx="11018520" cy="713232"/>
          </a:xfrm>
          <a:prstGeom prst="roundRect">
            <a:avLst/>
          </a:prstGeom>
          <a:solidFill>
            <a:srgbClr val="101F36"/>
          </a:solidFill>
          <a:ln w="15240">
            <a:solidFill>
              <a:srgbClr val="37E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41248" y="5193792"/>
            <a:ext cx="10469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37E6D5"/>
                </a:solidFill>
                <a:latin typeface="Avenir Next"/>
              </a:rPr>
              <a:t>Deliverable: </a:t>
            </a:r>
            <a:r>
              <a:rPr sz="1500" b="0">
                <a:solidFill>
                  <a:srgbClr val="F4F8FF"/>
                </a:solidFill>
                <a:latin typeface="Avenir Next"/>
              </a:rPr>
              <a:t>a reusable framework for turning an AI use case into a controlled agentic 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-292608"/>
            <a:ext cx="658368" cy="65836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56032" y="6236208"/>
            <a:ext cx="566928" cy="56692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075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915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107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622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138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1695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685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200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2319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075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5915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7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622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138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653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1695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685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200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716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2319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60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075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5915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107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622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138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653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1695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685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200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716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82319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60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075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35915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107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22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5138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653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1695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6685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200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716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82319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075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5915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107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622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138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5653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1695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6685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7200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7716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82319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560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3075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35915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4107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4622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138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653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61695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6685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7200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716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82319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" y="6583680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91A6C0"/>
                </a:solidFill>
                <a:latin typeface="Avenir Next"/>
              </a:rPr>
              <a:t>FROM AI TO AGENTS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91A6C0"/>
                </a:solidFill>
                <a:latin typeface="Avenir Next"/>
              </a:rPr>
              <a:t>03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48640" y="384048"/>
            <a:ext cx="160020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393192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COLD OPEN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85039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4F8FF"/>
                </a:solidFill>
                <a:latin typeface="Avenir Next"/>
              </a:rPr>
              <a:t>You already used AI today. But did any of it act for you?</a:t>
            </a:r>
          </a:p>
        </p:txBody>
      </p:sp>
      <p:sp>
        <p:nvSpPr>
          <p:cNvPr id="81" name="Oval 80"/>
          <p:cNvSpPr/>
          <p:nvPr/>
        </p:nvSpPr>
        <p:spPr>
          <a:xfrm>
            <a:off x="1005840" y="1600200"/>
            <a:ext cx="859536" cy="859536"/>
          </a:xfrm>
          <a:prstGeom prst="ellipse">
            <a:avLst/>
          </a:prstGeom>
          <a:solidFill>
            <a:srgbClr val="101F36"/>
          </a:solidFill>
          <a:ln w="1270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B8CFF"/>
                </a:solidFill>
                <a:latin typeface="Avenir Next"/>
              </a:rPr>
              <a:t>FACE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85216" y="2651760"/>
            <a:ext cx="1691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4F8FF"/>
                </a:solidFill>
                <a:latin typeface="Avenir Next"/>
              </a:rPr>
              <a:t>UNLOCK</a:t>
            </a:r>
          </a:p>
        </p:txBody>
      </p:sp>
      <p:sp>
        <p:nvSpPr>
          <p:cNvPr id="83" name="Oval 82"/>
          <p:cNvSpPr/>
          <p:nvPr/>
        </p:nvSpPr>
        <p:spPr>
          <a:xfrm>
            <a:off x="2880360" y="1600200"/>
            <a:ext cx="859536" cy="859536"/>
          </a:xfrm>
          <a:prstGeom prst="ellipse">
            <a:avLst/>
          </a:prstGeom>
          <a:solidFill>
            <a:srgbClr val="101F36"/>
          </a:solidFill>
          <a:ln w="12700">
            <a:solidFill>
              <a:srgbClr val="93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9368FF"/>
                </a:solidFill>
                <a:latin typeface="Avenir Next"/>
              </a:rPr>
              <a:t>&gt;&gt;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459736" y="2651760"/>
            <a:ext cx="1691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4F8FF"/>
                </a:solidFill>
                <a:latin typeface="Avenir Next"/>
              </a:rPr>
              <a:t>RECOMMEND</a:t>
            </a:r>
          </a:p>
        </p:txBody>
      </p:sp>
      <p:sp>
        <p:nvSpPr>
          <p:cNvPr id="85" name="Oval 84"/>
          <p:cNvSpPr/>
          <p:nvPr/>
        </p:nvSpPr>
        <p:spPr>
          <a:xfrm>
            <a:off x="4754879" y="1600200"/>
            <a:ext cx="859536" cy="859536"/>
          </a:xfrm>
          <a:prstGeom prst="ellipse">
            <a:avLst/>
          </a:prstGeom>
          <a:solidFill>
            <a:srgbClr val="101F36"/>
          </a:solidFill>
          <a:ln w="12700">
            <a:solidFill>
              <a:srgbClr val="37E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37E6D5"/>
                </a:solidFill>
                <a:latin typeface="Avenir Next"/>
              </a:rPr>
              <a:t>MAP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34255" y="2651760"/>
            <a:ext cx="1691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4F8FF"/>
                </a:solidFill>
                <a:latin typeface="Avenir Next"/>
              </a:rPr>
              <a:t>ROUTE</a:t>
            </a:r>
          </a:p>
        </p:txBody>
      </p:sp>
      <p:sp>
        <p:nvSpPr>
          <p:cNvPr id="87" name="Oval 86"/>
          <p:cNvSpPr/>
          <p:nvPr/>
        </p:nvSpPr>
        <p:spPr>
          <a:xfrm>
            <a:off x="6629399" y="1600200"/>
            <a:ext cx="859536" cy="859536"/>
          </a:xfrm>
          <a:prstGeom prst="ellipse">
            <a:avLst/>
          </a:prstGeom>
          <a:solidFill>
            <a:srgbClr val="101F36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B454"/>
                </a:solidFill>
                <a:latin typeface="Avenir Next"/>
              </a:rPr>
              <a:t>MAIL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08775" y="2651760"/>
            <a:ext cx="1691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4F8FF"/>
                </a:solidFill>
                <a:latin typeface="Avenir Next"/>
              </a:rPr>
              <a:t>FILTER</a:t>
            </a:r>
          </a:p>
        </p:txBody>
      </p:sp>
      <p:sp>
        <p:nvSpPr>
          <p:cNvPr id="89" name="Oval 88"/>
          <p:cNvSpPr/>
          <p:nvPr/>
        </p:nvSpPr>
        <p:spPr>
          <a:xfrm>
            <a:off x="8503920" y="1600200"/>
            <a:ext cx="859536" cy="859536"/>
          </a:xfrm>
          <a:prstGeom prst="ellipse">
            <a:avLst/>
          </a:prstGeom>
          <a:solidFill>
            <a:srgbClr val="101F36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472B6"/>
                </a:solidFill>
                <a:latin typeface="Avenir Next"/>
              </a:rPr>
              <a:t>CAM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083296" y="2651760"/>
            <a:ext cx="1691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4F8FF"/>
                </a:solidFill>
                <a:latin typeface="Avenir Next"/>
              </a:rPr>
              <a:t>ENHANCE</a:t>
            </a:r>
          </a:p>
        </p:txBody>
      </p:sp>
      <p:sp>
        <p:nvSpPr>
          <p:cNvPr id="91" name="Oval 90"/>
          <p:cNvSpPr/>
          <p:nvPr/>
        </p:nvSpPr>
        <p:spPr>
          <a:xfrm>
            <a:off x="10378440" y="1600200"/>
            <a:ext cx="859536" cy="859536"/>
          </a:xfrm>
          <a:prstGeom prst="ellipse">
            <a:avLst/>
          </a:prstGeom>
          <a:solidFill>
            <a:srgbClr val="101F36"/>
          </a:solidFill>
          <a:ln w="12700">
            <a:solidFill>
              <a:srgbClr val="43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43D17A"/>
                </a:solidFill>
                <a:latin typeface="Avenir Next"/>
              </a:rPr>
              <a:t>CHAT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957816" y="2651760"/>
            <a:ext cx="1691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4F8FF"/>
                </a:solidFill>
                <a:latin typeface="Avenir Next"/>
              </a:rPr>
              <a:t>GENERATE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694944" y="3273552"/>
            <a:ext cx="10780776" cy="0"/>
          </a:xfrm>
          <a:prstGeom prst="line">
            <a:avLst/>
          </a:prstGeom>
          <a:ln w="2540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1005840" y="3154680"/>
            <a:ext cx="237744" cy="237744"/>
          </a:xfrm>
          <a:prstGeom prst="ellipse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2880360" y="3154680"/>
            <a:ext cx="237744" cy="237744"/>
          </a:xfrm>
          <a:prstGeom prst="ellipse">
            <a:avLst/>
          </a:prstGeom>
          <a:solidFill>
            <a:srgbClr val="93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754880" y="3154680"/>
            <a:ext cx="237744" cy="237744"/>
          </a:xfrm>
          <a:prstGeom prst="ellipse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629400" y="3154680"/>
            <a:ext cx="237744" cy="237744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503920" y="3154680"/>
            <a:ext cx="237744" cy="237744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0378440" y="3154680"/>
            <a:ext cx="237744" cy="237744"/>
          </a:xfrm>
          <a:prstGeom prst="ellipse">
            <a:avLst/>
          </a:prstGeom>
          <a:solidFill>
            <a:srgbClr val="43D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1143000" y="4069080"/>
            <a:ext cx="9902952" cy="1033271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481328" y="4334256"/>
            <a:ext cx="921715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4F8FF"/>
                </a:solidFill>
                <a:latin typeface="Avenir Next"/>
              </a:rPr>
              <a:t>AI recognizes patterns. Agents pursue outcomes.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828800" y="5468112"/>
            <a:ext cx="8531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37E6D5"/>
                </a:solidFill>
                <a:latin typeface="Avenir Next"/>
              </a:rPr>
              <a:t>The shift is from producing an answer to managing a process.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-292608"/>
            <a:ext cx="658368" cy="65836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56032" y="6236208"/>
            <a:ext cx="566928" cy="56692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075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915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107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622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138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1695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685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200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2319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075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5915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7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622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138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653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1695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685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200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716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2319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60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075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5915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107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622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138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653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1695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685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200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716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82319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60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075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35915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107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22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5138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653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1695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6685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200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716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82319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075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5915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107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622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138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5653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1695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6685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7200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7716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82319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560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3075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35915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4107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4622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138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653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61695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6685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7200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716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82319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" y="6583680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91A6C0"/>
                </a:solidFill>
                <a:latin typeface="Avenir Next"/>
              </a:rPr>
              <a:t>FROM AI TO AGENTS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91A6C0"/>
                </a:solidFill>
                <a:latin typeface="Avenir Next"/>
              </a:rPr>
              <a:t>04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48640" y="384048"/>
            <a:ext cx="160020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393192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EVOLUTION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85039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4F8FF"/>
                </a:solidFill>
                <a:latin typeface="Avenir Next"/>
              </a:rPr>
              <a:t>The capability ladder: prediction to coordinated action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93776" y="4160520"/>
            <a:ext cx="1984248" cy="1188720"/>
          </a:xfrm>
          <a:prstGeom prst="roundRect">
            <a:avLst/>
          </a:prstGeom>
          <a:solidFill>
            <a:srgbClr val="0C1628"/>
          </a:solidFill>
          <a:ln w="15240">
            <a:solidFill>
              <a:srgbClr val="91A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0080" y="428853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1A6C0"/>
                </a:solidFill>
                <a:latin typeface="Avenir Next"/>
              </a:rP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0080" y="4572000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4F8FF"/>
                </a:solidFill>
                <a:latin typeface="Avenir Next"/>
              </a:rPr>
              <a:t>AI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0080" y="4910328"/>
            <a:ext cx="17007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91A6C0"/>
                </a:solidFill>
                <a:latin typeface="Avenir Next"/>
              </a:rPr>
              <a:t>predict  /  spam • routes</a:t>
            </a:r>
          </a:p>
        </p:txBody>
      </p:sp>
      <p:sp>
        <p:nvSpPr>
          <p:cNvPr id="85" name="Chevron 84"/>
          <p:cNvSpPr/>
          <p:nvPr/>
        </p:nvSpPr>
        <p:spPr>
          <a:xfrm>
            <a:off x="2532888" y="4553712"/>
            <a:ext cx="237744" cy="320040"/>
          </a:xfrm>
          <a:prstGeom prst="chevron">
            <a:avLst/>
          </a:prstGeom>
          <a:solidFill>
            <a:srgbClr val="91A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2825496" y="3630168"/>
            <a:ext cx="1984248" cy="1188720"/>
          </a:xfrm>
          <a:prstGeom prst="roundRect">
            <a:avLst/>
          </a:prstGeom>
          <a:solidFill>
            <a:srgbClr val="0C1628"/>
          </a:solidFill>
          <a:ln w="1524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971800" y="3758183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B8CFF"/>
                </a:solidFill>
                <a:latin typeface="Avenir Next"/>
              </a:rP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971800" y="404164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4F8FF"/>
                </a:solidFill>
                <a:latin typeface="Avenir Next"/>
              </a:rPr>
              <a:t>GENERATIVE AI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71800" y="4379976"/>
            <a:ext cx="17007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91A6C0"/>
                </a:solidFill>
                <a:latin typeface="Avenir Next"/>
              </a:rPr>
              <a:t>create  /  text • code</a:t>
            </a:r>
          </a:p>
        </p:txBody>
      </p:sp>
      <p:sp>
        <p:nvSpPr>
          <p:cNvPr id="90" name="Chevron 89"/>
          <p:cNvSpPr/>
          <p:nvPr/>
        </p:nvSpPr>
        <p:spPr>
          <a:xfrm>
            <a:off x="4864608" y="4023359"/>
            <a:ext cx="237744" cy="320040"/>
          </a:xfrm>
          <a:prstGeom prst="chevron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5157216" y="3099815"/>
            <a:ext cx="1984248" cy="1188720"/>
          </a:xfrm>
          <a:prstGeom prst="roundRect">
            <a:avLst/>
          </a:prstGeom>
          <a:solidFill>
            <a:srgbClr val="0C1628"/>
          </a:solidFill>
          <a:ln w="15240">
            <a:solidFill>
              <a:srgbClr val="93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303520" y="3227832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368FF"/>
                </a:solidFill>
                <a:latin typeface="Avenir Next"/>
              </a:rP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0" y="3511296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4F8FF"/>
                </a:solidFill>
                <a:latin typeface="Avenir Next"/>
              </a:rPr>
              <a:t>LLM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0" y="3849624"/>
            <a:ext cx="17007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91A6C0"/>
                </a:solidFill>
                <a:latin typeface="Avenir Next"/>
              </a:rPr>
              <a:t>reason  /  language interface</a:t>
            </a:r>
          </a:p>
        </p:txBody>
      </p:sp>
      <p:sp>
        <p:nvSpPr>
          <p:cNvPr id="95" name="Chevron 94"/>
          <p:cNvSpPr/>
          <p:nvPr/>
        </p:nvSpPr>
        <p:spPr>
          <a:xfrm>
            <a:off x="7196327" y="3493008"/>
            <a:ext cx="237744" cy="320040"/>
          </a:xfrm>
          <a:prstGeom prst="chevron">
            <a:avLst/>
          </a:prstGeom>
          <a:solidFill>
            <a:srgbClr val="93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7488936" y="2569464"/>
            <a:ext cx="1984248" cy="1188720"/>
          </a:xfrm>
          <a:prstGeom prst="roundRect">
            <a:avLst/>
          </a:prstGeom>
          <a:solidFill>
            <a:srgbClr val="0C1628"/>
          </a:solidFill>
          <a:ln w="15240">
            <a:solidFill>
              <a:srgbClr val="37E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635240" y="269748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7E6D5"/>
                </a:solidFill>
                <a:latin typeface="Avenir Next"/>
              </a:rPr>
              <a:t>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635240" y="2980944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4F8FF"/>
                </a:solidFill>
                <a:latin typeface="Avenir Next"/>
              </a:rPr>
              <a:t>AI AGENT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635240" y="3319272"/>
            <a:ext cx="17007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91A6C0"/>
                </a:solidFill>
                <a:latin typeface="Avenir Next"/>
              </a:rPr>
              <a:t>act  /  tools • feedback</a:t>
            </a:r>
          </a:p>
        </p:txBody>
      </p:sp>
      <p:sp>
        <p:nvSpPr>
          <p:cNvPr id="100" name="Chevron 99"/>
          <p:cNvSpPr/>
          <p:nvPr/>
        </p:nvSpPr>
        <p:spPr>
          <a:xfrm>
            <a:off x="9528048" y="2962656"/>
            <a:ext cx="237744" cy="320040"/>
          </a:xfrm>
          <a:prstGeom prst="chevron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9820655" y="2039112"/>
            <a:ext cx="1984248" cy="1188720"/>
          </a:xfrm>
          <a:prstGeom prst="roundRect">
            <a:avLst/>
          </a:prstGeom>
          <a:solidFill>
            <a:srgbClr val="0C1628"/>
          </a:solidFill>
          <a:ln w="1524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966959" y="2167128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B454"/>
                </a:solidFill>
                <a:latin typeface="Avenir Next"/>
              </a:rPr>
              <a:t>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966959" y="2450592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4F8FF"/>
                </a:solidFill>
                <a:latin typeface="Avenir Next"/>
              </a:rPr>
              <a:t>MULTI-AGENT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966959" y="2788920"/>
            <a:ext cx="17007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91A6C0"/>
                </a:solidFill>
                <a:latin typeface="Avenir Next"/>
              </a:rPr>
              <a:t>collaborate  /  specialist team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85216" y="5897880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91A6C0"/>
                </a:solidFill>
                <a:latin typeface="Avenir Next"/>
              </a:rPr>
              <a:t>↑ capability     ↑ autonomy     ↑ coordination cost     ↑ need for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-292608"/>
            <a:ext cx="658368" cy="65836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56032" y="6236208"/>
            <a:ext cx="566928" cy="56692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075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915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107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622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138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1695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685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200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2319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075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5915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7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622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138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653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1695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685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200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716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2319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60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075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5915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107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622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138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653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1695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685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200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716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82319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60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075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35915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107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22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5138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653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1695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6685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200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716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82319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075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5915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107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622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138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5653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1695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6685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7200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7716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82319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560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3075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35915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4107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4622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138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653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61695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6685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7200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716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82319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" y="6583680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91A6C0"/>
                </a:solidFill>
                <a:latin typeface="Avenir Next"/>
              </a:rPr>
              <a:t>FROM AI TO AGENTS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91A6C0"/>
                </a:solidFill>
                <a:latin typeface="Avenir Next"/>
              </a:rPr>
              <a:t>05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48640" y="384048"/>
            <a:ext cx="160020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393192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CORE DISTINCTION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85039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4F8FF"/>
                </a:solidFill>
                <a:latin typeface="Avenir Next"/>
              </a:rPr>
              <a:t>The agency boundary: answer versus outcome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1481328"/>
            <a:ext cx="5138928" cy="4343400"/>
          </a:xfrm>
          <a:prstGeom prst="roundRect">
            <a:avLst/>
          </a:prstGeom>
          <a:solidFill>
            <a:srgbClr val="0C1628"/>
          </a:solidFill>
          <a:ln w="1524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841248" y="1737360"/>
            <a:ext cx="1481328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41248" y="1746504"/>
            <a:ext cx="14813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5B8CFF"/>
                </a:solidFill>
                <a:latin typeface="Avenir Next"/>
              </a:rPr>
              <a:t>CHATBOT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9536" y="2304288"/>
            <a:ext cx="452628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4F8FF"/>
                </a:solidFill>
                <a:latin typeface="Avenir Next"/>
              </a:rPr>
              <a:t>“Which courses should I learn for this job?”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9536" y="3182112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1A6C0"/>
                </a:solidFill>
                <a:latin typeface="Avenir Next"/>
              </a:rPr>
              <a:t>Explains options and returns recommendations.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59536" y="4160520"/>
            <a:ext cx="4526280" cy="987552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60704" y="4389120"/>
            <a:ext cx="512064" cy="512064"/>
          </a:xfrm>
          <a:prstGeom prst="ellipse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755648" y="4343400"/>
            <a:ext cx="3429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4F8FF"/>
                </a:solidFill>
                <a:latin typeface="Avenir Next"/>
              </a:rPr>
              <a:t>OUTPUT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755648" y="4681728"/>
            <a:ext cx="34290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1A6C0"/>
                </a:solidFill>
                <a:latin typeface="Avenir Next"/>
              </a:rPr>
              <a:t>text response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59536" y="5340096"/>
            <a:ext cx="173736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59536" y="5349240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5B8CFF"/>
                </a:solidFill>
                <a:latin typeface="Avenir Next"/>
              </a:rPr>
              <a:t>GENERATE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428232" y="1481328"/>
            <a:ext cx="5138928" cy="4343400"/>
          </a:xfrm>
          <a:prstGeom prst="roundRect">
            <a:avLst/>
          </a:prstGeom>
          <a:solidFill>
            <a:srgbClr val="0C1628"/>
          </a:solidFill>
          <a:ln w="15240">
            <a:solidFill>
              <a:srgbClr val="37E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6675120" y="1737360"/>
            <a:ext cx="1481328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675120" y="1746504"/>
            <a:ext cx="14813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AGENT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693408" y="2304288"/>
            <a:ext cx="448056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4F8FF"/>
                </a:solidFill>
                <a:latin typeface="Avenir Next"/>
              </a:rPr>
              <a:t>“Prepare me for this role in 14 days.”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693408" y="3182112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1A6C0"/>
                </a:solidFill>
                <a:latin typeface="Avenir Next"/>
              </a:rPr>
              <a:t>Analyses evidence, finds gaps, creates tasks and schedules work.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693408" y="4160520"/>
            <a:ext cx="4526280" cy="987552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894576" y="4389120"/>
            <a:ext cx="512064" cy="512064"/>
          </a:xfrm>
          <a:prstGeom prst="ellipse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89520" y="4343400"/>
            <a:ext cx="3429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4F8FF"/>
                </a:solidFill>
                <a:latin typeface="Avenir Next"/>
              </a:rPr>
              <a:t>OUTCOME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589520" y="4681728"/>
            <a:ext cx="34290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1A6C0"/>
                </a:solidFill>
                <a:latin typeface="Avenir Next"/>
              </a:rPr>
              <a:t>plan + calendar action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693408" y="5340096"/>
            <a:ext cx="205740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693408" y="534924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DECIDE + 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-292608"/>
            <a:ext cx="658368" cy="65836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56032" y="6236208"/>
            <a:ext cx="566928" cy="56692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075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915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107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622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138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1695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685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200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2319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075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5915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7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622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138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653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1695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685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200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716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2319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60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075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5915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107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622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138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653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1695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685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200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716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82319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60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075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35915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107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22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5138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653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1695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6685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200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716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82319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075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5915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107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622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138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5653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1695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6685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7200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7716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82319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560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3075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35915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4107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4622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138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653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61695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6685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7200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716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82319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" y="6583680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91A6C0"/>
                </a:solidFill>
                <a:latin typeface="Avenir Next"/>
              </a:rPr>
              <a:t>FROM AI TO AGENTS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91A6C0"/>
                </a:solidFill>
                <a:latin typeface="Avenir Next"/>
              </a:rPr>
              <a:t>06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48640" y="384048"/>
            <a:ext cx="160020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393192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AGENT ANATOMY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85039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4F8FF"/>
                </a:solidFill>
                <a:latin typeface="Avenir Next"/>
              </a:rPr>
              <a:t>An agent is an engineered system—not a model with a new name</a:t>
            </a:r>
          </a:p>
        </p:txBody>
      </p:sp>
      <p:sp>
        <p:nvSpPr>
          <p:cNvPr id="81" name="Oval 80"/>
          <p:cNvSpPr/>
          <p:nvPr/>
        </p:nvSpPr>
        <p:spPr>
          <a:xfrm>
            <a:off x="4709160" y="1965960"/>
            <a:ext cx="2743200" cy="2743200"/>
          </a:xfrm>
          <a:prstGeom prst="ellipse">
            <a:avLst/>
          </a:prstGeom>
          <a:solidFill>
            <a:srgbClr val="101F36"/>
          </a:solidFill>
          <a:ln w="12700">
            <a:solidFill>
              <a:srgbClr val="37E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F4F8FF"/>
                </a:solidFill>
                <a:latin typeface="Avenir Next"/>
              </a:rPr>
              <a:t>AGENT</a:t>
            </a:r>
          </a:p>
        </p:txBody>
      </p:sp>
      <p:sp>
        <p:nvSpPr>
          <p:cNvPr id="82" name="Oval 81"/>
          <p:cNvSpPr/>
          <p:nvPr/>
        </p:nvSpPr>
        <p:spPr>
          <a:xfrm>
            <a:off x="5285232" y="2542032"/>
            <a:ext cx="1600200" cy="1600200"/>
          </a:xfrm>
          <a:prstGeom prst="ellipse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60B18"/>
                </a:solidFill>
                <a:latin typeface="Avenir Next"/>
              </a:rPr>
              <a:t>GEMINI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13232" y="1481328"/>
            <a:ext cx="2359152" cy="914400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13232" y="1481328"/>
            <a:ext cx="54864" cy="914400"/>
          </a:xfrm>
          <a:prstGeom prst="rect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96112" y="1618488"/>
            <a:ext cx="2039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GOAL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6112" y="1938528"/>
            <a:ext cx="20391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success criteria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3072384" y="1938528"/>
            <a:ext cx="1636776" cy="0"/>
          </a:xfrm>
          <a:prstGeom prst="line">
            <a:avLst/>
          </a:prstGeom>
          <a:ln w="17780">
            <a:solidFill>
              <a:srgbClr val="37E6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ounded Rectangle 87"/>
          <p:cNvSpPr/>
          <p:nvPr/>
        </p:nvSpPr>
        <p:spPr>
          <a:xfrm>
            <a:off x="914400" y="4224528"/>
            <a:ext cx="2359152" cy="914400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14400" y="4224528"/>
            <a:ext cx="54864" cy="914400"/>
          </a:xfrm>
          <a:prstGeom prst="rect">
            <a:avLst/>
          </a:prstGeom>
          <a:solidFill>
            <a:srgbClr val="93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97280" y="4361688"/>
            <a:ext cx="2039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MEMORY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97280" y="4681728"/>
            <a:ext cx="20391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state + context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3273552" y="4681728"/>
            <a:ext cx="1435608" cy="0"/>
          </a:xfrm>
          <a:prstGeom prst="line">
            <a:avLst/>
          </a:prstGeom>
          <a:ln w="17780">
            <a:solidFill>
              <a:srgbClr val="93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9098280" y="1481328"/>
            <a:ext cx="2359152" cy="914400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098280" y="1481328"/>
            <a:ext cx="54864" cy="91440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281159" y="1618488"/>
            <a:ext cx="2039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TOOLS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281159" y="1938528"/>
            <a:ext cx="20391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APIs + functions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7452360" y="1938528"/>
            <a:ext cx="1645920" cy="0"/>
          </a:xfrm>
          <a:prstGeom prst="line">
            <a:avLst/>
          </a:prstGeom>
          <a:ln w="17780">
            <a:solidFill>
              <a:srgbClr val="FFB4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/>
          <p:cNvSpPr/>
          <p:nvPr/>
        </p:nvSpPr>
        <p:spPr>
          <a:xfrm>
            <a:off x="8915400" y="4224528"/>
            <a:ext cx="2359152" cy="914400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915400" y="4224528"/>
            <a:ext cx="54864" cy="914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098280" y="4361688"/>
            <a:ext cx="2039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POLICY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098280" y="4681728"/>
            <a:ext cx="20391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permissions + limits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7452360" y="4681728"/>
            <a:ext cx="1463040" cy="0"/>
          </a:xfrm>
          <a:prstGeom prst="line">
            <a:avLst/>
          </a:prstGeom>
          <a:ln w="1778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ounded Rectangle 102"/>
          <p:cNvSpPr/>
          <p:nvPr/>
        </p:nvSpPr>
        <p:spPr>
          <a:xfrm>
            <a:off x="4663440" y="5266944"/>
            <a:ext cx="2852928" cy="310896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663440" y="5276088"/>
            <a:ext cx="28529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43D17A"/>
                </a:solidFill>
                <a:latin typeface="Avenir Next"/>
              </a:rPr>
              <a:t>OBSERVABILITY CLOSES THE LOOP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-292608"/>
            <a:ext cx="658368" cy="65836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56032" y="6236208"/>
            <a:ext cx="566928" cy="56692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075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915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107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622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138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1695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685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200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2319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075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5915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7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622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138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653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1695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685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200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716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2319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60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075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5915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107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622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138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653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1695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685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200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716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82319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60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075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35915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107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22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5138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653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1695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6685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200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716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82319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075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5915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107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622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138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5653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1695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6685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7200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7716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82319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560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3075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35915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4107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4622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138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653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61695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6685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7200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716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82319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" y="6583680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91A6C0"/>
                </a:solidFill>
                <a:latin typeface="Avenir Next"/>
              </a:rPr>
              <a:t>FROM AI TO AGENTS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91A6C0"/>
                </a:solidFill>
                <a:latin typeface="Avenir Next"/>
              </a:rPr>
              <a:t>07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48640" y="384048"/>
            <a:ext cx="160020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393192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EXECUTION LOOP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85039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4F8FF"/>
                </a:solidFill>
                <a:latin typeface="Avenir Next"/>
              </a:rPr>
              <a:t>The agent loop converts intention into controlled action</a:t>
            </a:r>
          </a:p>
        </p:txBody>
      </p:sp>
      <p:sp>
        <p:nvSpPr>
          <p:cNvPr id="81" name="Oval 80"/>
          <p:cNvSpPr/>
          <p:nvPr/>
        </p:nvSpPr>
        <p:spPr>
          <a:xfrm>
            <a:off x="5239512" y="2560320"/>
            <a:ext cx="1682496" cy="1682496"/>
          </a:xfrm>
          <a:prstGeom prst="ellipse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60B18"/>
                </a:solidFill>
                <a:latin typeface="Avenir Next"/>
              </a:rPr>
              <a:t>GOAL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828800" y="1463040"/>
            <a:ext cx="1993392" cy="1042415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993392" y="1719072"/>
            <a:ext cx="438912" cy="438912"/>
          </a:xfrm>
          <a:prstGeom prst="ellipse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60B18"/>
                </a:solidFill>
                <a:latin typeface="Avenir Next"/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578608" y="1655064"/>
            <a:ext cx="10607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F8FF"/>
                </a:solidFill>
                <a:latin typeface="Avenir Next"/>
              </a:rPr>
              <a:t>PERCEIVE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78608" y="19933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91A6C0"/>
                </a:solidFill>
                <a:latin typeface="Avenir Next"/>
              </a:rPr>
              <a:t>goal + context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183879" y="1463040"/>
            <a:ext cx="1993392" cy="1042415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93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348471" y="1719072"/>
            <a:ext cx="438912" cy="438912"/>
          </a:xfrm>
          <a:prstGeom prst="ellipse">
            <a:avLst/>
          </a:prstGeom>
          <a:solidFill>
            <a:srgbClr val="93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60B18"/>
                </a:solidFill>
                <a:latin typeface="Avenir Next"/>
              </a:rP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33688" y="1655064"/>
            <a:ext cx="10607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F8FF"/>
                </a:solidFill>
                <a:latin typeface="Avenir Next"/>
              </a:rPr>
              <a:t>PLAN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33688" y="19933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91A6C0"/>
                </a:solidFill>
                <a:latin typeface="Avenir Next"/>
              </a:rPr>
              <a:t>next best step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458200" y="4160520"/>
            <a:ext cx="1993392" cy="1042415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8622792" y="4416552"/>
            <a:ext cx="438912" cy="438912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60B18"/>
                </a:solidFill>
                <a:latin typeface="Avenir Next"/>
              </a:rPr>
              <a:t>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208008" y="4352544"/>
            <a:ext cx="10607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F8FF"/>
                </a:solidFill>
                <a:latin typeface="Avenir Next"/>
              </a:rPr>
              <a:t>ACT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208008" y="46908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91A6C0"/>
                </a:solidFill>
                <a:latin typeface="Avenir Next"/>
              </a:rPr>
              <a:t>call a tool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828800" y="4160520"/>
            <a:ext cx="1993392" cy="1042415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43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993392" y="4416552"/>
            <a:ext cx="438912" cy="438912"/>
          </a:xfrm>
          <a:prstGeom prst="ellipse">
            <a:avLst/>
          </a:prstGeom>
          <a:solidFill>
            <a:srgbClr val="43D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60B18"/>
                </a:solidFill>
                <a:latin typeface="Avenir Next"/>
              </a:rPr>
              <a:t>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578608" y="4352544"/>
            <a:ext cx="10607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F8FF"/>
                </a:solidFill>
                <a:latin typeface="Avenir Next"/>
              </a:rPr>
              <a:t>OBSERVE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578608" y="46908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91A6C0"/>
                </a:solidFill>
                <a:latin typeface="Avenir Next"/>
              </a:rPr>
              <a:t>inspect result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3822191" y="1975104"/>
            <a:ext cx="1417321" cy="1088136"/>
          </a:xfrm>
          <a:prstGeom prst="line">
            <a:avLst/>
          </a:prstGeom>
          <a:ln w="2032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922008" y="1975104"/>
            <a:ext cx="1261871" cy="1088136"/>
          </a:xfrm>
          <a:prstGeom prst="line">
            <a:avLst/>
          </a:prstGeom>
          <a:ln w="2032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180576" y="2505456"/>
            <a:ext cx="237744" cy="1655064"/>
          </a:xfrm>
          <a:prstGeom prst="line">
            <a:avLst/>
          </a:prstGeom>
          <a:ln w="2032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6922008" y="3730752"/>
            <a:ext cx="1536192" cy="932688"/>
          </a:xfrm>
          <a:prstGeom prst="line">
            <a:avLst/>
          </a:prstGeom>
          <a:ln w="2032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>
            <a:off x="3822191" y="3730752"/>
            <a:ext cx="1417321" cy="932688"/>
          </a:xfrm>
          <a:prstGeom prst="line">
            <a:avLst/>
          </a:prstGeom>
          <a:ln w="2032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2724912" y="2505456"/>
            <a:ext cx="64008" cy="1655064"/>
          </a:xfrm>
          <a:prstGeom prst="line">
            <a:avLst/>
          </a:prstGeom>
          <a:ln w="2032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03"/>
          <p:cNvSpPr/>
          <p:nvPr/>
        </p:nvSpPr>
        <p:spPr>
          <a:xfrm>
            <a:off x="3429000" y="5650992"/>
            <a:ext cx="5303520" cy="457200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611880" y="5769864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37E6D5"/>
                </a:solidFill>
                <a:latin typeface="Avenir Next"/>
              </a:rPr>
              <a:t>STOP: success • approval • limit • escalation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-292608"/>
            <a:ext cx="658368" cy="65836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56032" y="6236208"/>
            <a:ext cx="566928" cy="56692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075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915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107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622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138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1695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685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200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2319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075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5915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7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622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138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653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1695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685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200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716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2319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60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075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5915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107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622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138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653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1695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685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200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716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82319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60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075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35915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107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22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5138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653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1695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6685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200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716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82319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075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5915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107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622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138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5653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1695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6685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7200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7716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82319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560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3075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35915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4107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4622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138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653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61695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6685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7200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716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82319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" y="6583680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91A6C0"/>
                </a:solidFill>
                <a:latin typeface="Avenir Next"/>
              </a:rPr>
              <a:t>FROM AI TO AGENTS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91A6C0"/>
                </a:solidFill>
                <a:latin typeface="Avenir Next"/>
              </a:rPr>
              <a:t>08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48640" y="384048"/>
            <a:ext cx="160020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393192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TOOL CALLING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85039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4F8FF"/>
                </a:solidFill>
                <a:latin typeface="Avenir Next"/>
              </a:rPr>
              <a:t>Gemini proposes the action; your application executes it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85800" y="1417320"/>
            <a:ext cx="196596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85800" y="1426464"/>
            <a:ext cx="1965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5B8CFF"/>
                </a:solidFill>
                <a:latin typeface="Avenir Next"/>
              </a:rPr>
              <a:t>USER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1673352" y="1874519"/>
            <a:ext cx="0" cy="3931921"/>
          </a:xfrm>
          <a:prstGeom prst="line">
            <a:avLst/>
          </a:prstGeom>
          <a:ln w="1270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2743200" y="1417320"/>
            <a:ext cx="196596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743200" y="1426464"/>
            <a:ext cx="1965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APP / ORCHESTRATOR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3730752" y="1874519"/>
            <a:ext cx="0" cy="3931921"/>
          </a:xfrm>
          <a:prstGeom prst="line">
            <a:avLst/>
          </a:prstGeom>
          <a:ln w="1270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5897880" y="1417320"/>
            <a:ext cx="196596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897880" y="1426464"/>
            <a:ext cx="1965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9368FF"/>
                </a:solidFill>
                <a:latin typeface="Avenir Next"/>
              </a:rPr>
              <a:t>GEMINI API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885432" y="1874519"/>
            <a:ext cx="0" cy="3931921"/>
          </a:xfrm>
          <a:prstGeom prst="line">
            <a:avLst/>
          </a:prstGeom>
          <a:ln w="1270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8915400" y="1417320"/>
            <a:ext cx="196596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915400" y="1426464"/>
            <a:ext cx="1965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B454"/>
                </a:solidFill>
                <a:latin typeface="Avenir Next"/>
              </a:rPr>
              <a:t>TOOL / SYSTEM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9902952" y="1874519"/>
            <a:ext cx="0" cy="3931921"/>
          </a:xfrm>
          <a:prstGeom prst="line">
            <a:avLst/>
          </a:prstGeom>
          <a:ln w="1270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691640" y="2240280"/>
            <a:ext cx="1188720" cy="0"/>
          </a:xfrm>
          <a:prstGeom prst="line">
            <a:avLst/>
          </a:prstGeom>
          <a:ln w="25400">
            <a:solidFill>
              <a:srgbClr val="5B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Chevron 93"/>
          <p:cNvSpPr/>
          <p:nvPr/>
        </p:nvSpPr>
        <p:spPr>
          <a:xfrm>
            <a:off x="2734056" y="2093976"/>
            <a:ext cx="219456" cy="274320"/>
          </a:xfrm>
          <a:prstGeom prst="chevron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828800" y="1911096"/>
            <a:ext cx="9143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5B8CFF"/>
                </a:solidFill>
                <a:latin typeface="Avenir Next"/>
              </a:rPr>
              <a:t>goal + constraints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3703320" y="2880360"/>
            <a:ext cx="2286000" cy="0"/>
          </a:xfrm>
          <a:prstGeom prst="line">
            <a:avLst/>
          </a:prstGeom>
          <a:ln w="25400">
            <a:solidFill>
              <a:srgbClr val="37E6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Chevron 96"/>
          <p:cNvSpPr/>
          <p:nvPr/>
        </p:nvSpPr>
        <p:spPr>
          <a:xfrm>
            <a:off x="5843016" y="2734056"/>
            <a:ext cx="219456" cy="274320"/>
          </a:xfrm>
          <a:prstGeom prst="chevron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840480" y="255117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37E6D5"/>
                </a:solidFill>
                <a:latin typeface="Avenir Next"/>
              </a:rPr>
              <a:t>prompt + function schema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6903720" y="3520440"/>
            <a:ext cx="2112264" cy="0"/>
          </a:xfrm>
          <a:prstGeom prst="line">
            <a:avLst/>
          </a:prstGeom>
          <a:ln w="25400">
            <a:solidFill>
              <a:srgbClr val="93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Chevron 99"/>
          <p:cNvSpPr/>
          <p:nvPr/>
        </p:nvSpPr>
        <p:spPr>
          <a:xfrm>
            <a:off x="8869680" y="3374136"/>
            <a:ext cx="219456" cy="274320"/>
          </a:xfrm>
          <a:prstGeom prst="chevron">
            <a:avLst/>
          </a:prstGeom>
          <a:solidFill>
            <a:srgbClr val="93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040880" y="3191256"/>
            <a:ext cx="18379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9368FF"/>
                </a:solidFill>
                <a:latin typeface="Avenir Next"/>
              </a:rPr>
              <a:t>function(name, args)</a:t>
            </a:r>
          </a:p>
        </p:txBody>
      </p:sp>
      <p:cxnSp>
        <p:nvCxnSpPr>
          <p:cNvPr id="102" name="Connector 101"/>
          <p:cNvCxnSpPr/>
          <p:nvPr/>
        </p:nvCxnSpPr>
        <p:spPr>
          <a:xfrm flipH="1">
            <a:off x="6903720" y="4160520"/>
            <a:ext cx="2112264" cy="0"/>
          </a:xfrm>
          <a:prstGeom prst="line">
            <a:avLst/>
          </a:prstGeom>
          <a:ln w="25400">
            <a:solidFill>
              <a:srgbClr val="FFB4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Chevron 102"/>
          <p:cNvSpPr/>
          <p:nvPr/>
        </p:nvSpPr>
        <p:spPr>
          <a:xfrm rot="10800000">
            <a:off x="6858000" y="4014215"/>
            <a:ext cx="219456" cy="274320"/>
          </a:xfrm>
          <a:prstGeom prst="chevron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040880" y="3831335"/>
            <a:ext cx="18379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B454"/>
                </a:solidFill>
                <a:latin typeface="Avenir Next"/>
              </a:rPr>
              <a:t>validated result</a:t>
            </a:r>
          </a:p>
        </p:txBody>
      </p:sp>
      <p:cxnSp>
        <p:nvCxnSpPr>
          <p:cNvPr id="105" name="Connector 104"/>
          <p:cNvCxnSpPr/>
          <p:nvPr/>
        </p:nvCxnSpPr>
        <p:spPr>
          <a:xfrm flipH="1">
            <a:off x="3703320" y="4800600"/>
            <a:ext cx="2286000" cy="0"/>
          </a:xfrm>
          <a:prstGeom prst="line">
            <a:avLst/>
          </a:prstGeom>
          <a:ln w="25400">
            <a:solidFill>
              <a:srgbClr val="43D1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Chevron 105"/>
          <p:cNvSpPr/>
          <p:nvPr/>
        </p:nvSpPr>
        <p:spPr>
          <a:xfrm rot="10800000">
            <a:off x="3657600" y="4654296"/>
            <a:ext cx="219456" cy="274320"/>
          </a:xfrm>
          <a:prstGeom prst="chevron">
            <a:avLst/>
          </a:prstGeom>
          <a:solidFill>
            <a:srgbClr val="43D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840480" y="447141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43D17A"/>
                </a:solidFill>
                <a:latin typeface="Avenir Next"/>
              </a:rPr>
              <a:t>grounded final response</a:t>
            </a:r>
          </a:p>
        </p:txBody>
      </p:sp>
      <p:cxnSp>
        <p:nvCxnSpPr>
          <p:cNvPr id="108" name="Connector 107"/>
          <p:cNvCxnSpPr/>
          <p:nvPr/>
        </p:nvCxnSpPr>
        <p:spPr>
          <a:xfrm flipH="1">
            <a:off x="1691640" y="5440680"/>
            <a:ext cx="1188720" cy="0"/>
          </a:xfrm>
          <a:prstGeom prst="line">
            <a:avLst/>
          </a:prstGeom>
          <a:ln w="25400">
            <a:solidFill>
              <a:srgbClr val="37E6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Chevron 108"/>
          <p:cNvSpPr/>
          <p:nvPr/>
        </p:nvSpPr>
        <p:spPr>
          <a:xfrm rot="10800000">
            <a:off x="1645920" y="5294376"/>
            <a:ext cx="219456" cy="274320"/>
          </a:xfrm>
          <a:prstGeom prst="chevron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828800" y="5111496"/>
            <a:ext cx="9143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37E6D5"/>
                </a:solidFill>
                <a:latin typeface="Avenir Next"/>
              </a:rPr>
              <a:t>answer / approval request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5800" y="6108192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91A6C0"/>
                </a:solidFill>
                <a:latin typeface="Avenir Next"/>
              </a:rPr>
              <a:t>Security boundary: validate arguments, permissions and side effects before execution.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-292608"/>
            <a:ext cx="658368" cy="65836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56032" y="6236208"/>
            <a:ext cx="566928" cy="56692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075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915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107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622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138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1695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685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200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2319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075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5915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7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622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138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653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1695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685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200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716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2319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60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075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5915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107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622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138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653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1695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685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200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716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82319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60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075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35915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107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22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5138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653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1695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6685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200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716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82319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075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5915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107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622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138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5653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1695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6685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7200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7716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82319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560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3075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35915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4107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4622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138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653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61695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6685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7200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716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82319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" y="6583680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91A6C0"/>
                </a:solidFill>
                <a:latin typeface="Avenir Next"/>
              </a:rPr>
              <a:t>FROM AI TO AGENTS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91A6C0"/>
                </a:solidFill>
                <a:latin typeface="Avenir Next"/>
              </a:rPr>
              <a:t>09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48640" y="384048"/>
            <a:ext cx="160020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393192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MEMORY DESIGN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85039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4F8FF"/>
                </a:solidFill>
                <a:latin typeface="Avenir Next"/>
              </a:rPr>
              <a:t>Memory is not one thing: separate state by purpose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60120" y="1508760"/>
            <a:ext cx="7406640" cy="65836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37E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207008" y="1673351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7E6D5"/>
                </a:solidFill>
                <a:latin typeface="Avenir Next"/>
              </a:rPr>
              <a:t>WORKING MEMORY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291840" y="1673351"/>
            <a:ext cx="26060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4F8FF"/>
                </a:solidFill>
                <a:latin typeface="Avenir Next"/>
              </a:rPr>
              <a:t>current turn • active plan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99632" y="1664207"/>
            <a:ext cx="178308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99632" y="1673351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91A6C0"/>
                </a:solidFill>
                <a:latin typeface="Avenir Next"/>
              </a:rPr>
              <a:t>SMALL + TEMPORARY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60120" y="2423160"/>
            <a:ext cx="7406640" cy="65836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207008" y="2587752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8CFF"/>
                </a:solidFill>
                <a:latin typeface="Avenir Next"/>
              </a:rPr>
              <a:t>SESSION STATE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291840" y="2587752"/>
            <a:ext cx="26060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4F8FF"/>
                </a:solidFill>
                <a:latin typeface="Avenir Next"/>
              </a:rPr>
              <a:t>conversation • task progress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199632" y="2578608"/>
            <a:ext cx="178308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199632" y="2587751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91A6C0"/>
                </a:solidFill>
                <a:latin typeface="Avenir Next"/>
              </a:rPr>
              <a:t>SCOPED + RESUMABLE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60120" y="3337560"/>
            <a:ext cx="7406640" cy="65836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93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207008" y="3502152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9368FF"/>
                </a:solidFill>
                <a:latin typeface="Avenir Next"/>
              </a:rPr>
              <a:t>LONG-TERM MEMORY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91840" y="3502152"/>
            <a:ext cx="26060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4F8FF"/>
                </a:solidFill>
                <a:latin typeface="Avenir Next"/>
              </a:rPr>
              <a:t>preferences • prior outcomes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199632" y="3493008"/>
            <a:ext cx="178308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99632" y="3502151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91A6C0"/>
                </a:solidFill>
                <a:latin typeface="Avenir Next"/>
              </a:rPr>
              <a:t>CONSENTED + CURATED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60120" y="4251960"/>
            <a:ext cx="7406640" cy="65836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207008" y="4416552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B454"/>
                </a:solidFill>
                <a:latin typeface="Avenir Next"/>
              </a:rPr>
              <a:t>KNOWLEDGE / RAG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291840" y="4416552"/>
            <a:ext cx="26060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4F8FF"/>
                </a:solidFill>
                <a:latin typeface="Avenir Next"/>
              </a:rPr>
              <a:t>documents • policies • evidence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199632" y="4407408"/>
            <a:ext cx="178308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99632" y="4416552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91A6C0"/>
                </a:solidFill>
                <a:latin typeface="Avenir Next"/>
              </a:rPr>
              <a:t>RETRIEVED + CITED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915400" y="1508760"/>
            <a:ext cx="2331720" cy="3401568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89720" y="178308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37E6D5"/>
                </a:solidFill>
                <a:latin typeface="Avenir Next"/>
              </a:rPr>
              <a:t>DESIGN RULE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217152" y="2404872"/>
            <a:ext cx="173736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4F8FF"/>
                </a:solidFill>
                <a:latin typeface="Avenir Next"/>
              </a:rPr>
              <a:t>Store only what improves the next decision.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217152" y="4315968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1A6C0"/>
                </a:solidFill>
                <a:latin typeface="Avenir Next"/>
              </a:rPr>
              <a:t>Not every chat belongs in memory.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-292608"/>
            <a:ext cx="658368" cy="65836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56032" y="6236208"/>
            <a:ext cx="566928" cy="56692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075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915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107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622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138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1695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685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200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2319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075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5915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7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622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138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653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1695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685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200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716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2319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60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075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5915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107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622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138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653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1695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685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200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716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82319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60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075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35915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107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22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5138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653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1695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6685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200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716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82319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075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5915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107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622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138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5653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1695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6685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7200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7716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82319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560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3075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35915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4107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4622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138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653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61695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6685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7200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716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82319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" y="6583680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91A6C0"/>
                </a:solidFill>
                <a:latin typeface="Avenir Next"/>
              </a:rPr>
              <a:t>FROM AI TO AGENTS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91A6C0"/>
                </a:solidFill>
                <a:latin typeface="Avenir Next"/>
              </a:rPr>
              <a:t>10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48640" y="384048"/>
            <a:ext cx="160020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393192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REAL-WORLD EXAMPLES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85039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4F8FF"/>
                </a:solidFill>
                <a:latin typeface="Avenir Next"/>
              </a:rPr>
              <a:t>From everyday requests to agentic workflows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66928" y="1481328"/>
            <a:ext cx="3456432" cy="1261872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795528" y="1746504"/>
            <a:ext cx="475488" cy="475488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60B18"/>
                </a:solidFill>
                <a:latin typeface="Avenir Next"/>
              </a:rP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35607" y="1682496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F8FF"/>
                </a:solidFill>
                <a:latin typeface="Avenir Next"/>
              </a:rPr>
              <a:t>FOOD DELIVERY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435607" y="207568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1A6C0"/>
                </a:solidFill>
                <a:latin typeface="Avenir Next"/>
              </a:rPr>
              <a:t>search → compare → approve → order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334256" y="1481328"/>
            <a:ext cx="3456432" cy="1261872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4562856" y="1746504"/>
            <a:ext cx="475488" cy="475488"/>
          </a:xfrm>
          <a:prstGeom prst="ellipse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60B18"/>
                </a:solidFill>
                <a:latin typeface="Avenir Next"/>
              </a:rP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202936" y="1682496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F8FF"/>
                </a:solidFill>
                <a:latin typeface="Avenir Next"/>
              </a:rPr>
              <a:t>TRAVEL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202936" y="207568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1A6C0"/>
                </a:solidFill>
                <a:latin typeface="Avenir Next"/>
              </a:rPr>
              <a:t>flights → hotels → budget → itinerary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101583" y="1481328"/>
            <a:ext cx="3456432" cy="1261872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330183" y="1746504"/>
            <a:ext cx="475488" cy="475488"/>
          </a:xfrm>
          <a:prstGeom prst="ellipse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60B18"/>
                </a:solidFill>
                <a:latin typeface="Avenir Next"/>
              </a:rPr>
              <a:t>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70263" y="1682496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F8FF"/>
                </a:solidFill>
                <a:latin typeface="Avenir Next"/>
              </a:rPr>
              <a:t>RIDE COORDINATION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70263" y="207568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1A6C0"/>
                </a:solidFill>
                <a:latin typeface="Avenir Next"/>
              </a:rPr>
              <a:t>driver → route → pricing → safety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66928" y="3035808"/>
            <a:ext cx="3456432" cy="1261872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795528" y="3300984"/>
            <a:ext cx="475488" cy="475488"/>
          </a:xfrm>
          <a:prstGeom prst="ellipse">
            <a:avLst/>
          </a:prstGeom>
          <a:solidFill>
            <a:srgbClr val="93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60B18"/>
                </a:solidFill>
                <a:latin typeface="Avenir Next"/>
              </a:rP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435607" y="3236976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F8FF"/>
                </a:solidFill>
                <a:latin typeface="Avenir Next"/>
              </a:rPr>
              <a:t>CUSTOMER SUPPORT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435607" y="363016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1A6C0"/>
                </a:solidFill>
                <a:latin typeface="Avenir Next"/>
              </a:rPr>
              <a:t>order → delivery → policy → refund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334256" y="3035808"/>
            <a:ext cx="3456432" cy="1261872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562856" y="3300984"/>
            <a:ext cx="475488" cy="475488"/>
          </a:xfrm>
          <a:prstGeom prst="ellipse">
            <a:avLst/>
          </a:prstGeom>
          <a:solidFill>
            <a:srgbClr val="43D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60B18"/>
                </a:solidFill>
                <a:latin typeface="Avenir Next"/>
              </a:rPr>
              <a:t>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202936" y="3236976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F8FF"/>
                </a:solidFill>
                <a:latin typeface="Avenir Next"/>
              </a:rPr>
              <a:t>SOFTWARE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202936" y="363016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1A6C0"/>
                </a:solidFill>
                <a:latin typeface="Avenir Next"/>
              </a:rPr>
              <a:t>design → code → test → review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101583" y="3035808"/>
            <a:ext cx="3456432" cy="1261872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8330183" y="3300984"/>
            <a:ext cx="475488" cy="475488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60B18"/>
                </a:solidFill>
                <a:latin typeface="Avenir Next"/>
              </a:rPr>
              <a:t>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70263" y="3236976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F8FF"/>
                </a:solidFill>
                <a:latin typeface="Avenir Next"/>
              </a:rPr>
              <a:t>CAREER RESEARCH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70263" y="363016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1A6C0"/>
                </a:solidFill>
                <a:latin typeface="Avenir Next"/>
              </a:rPr>
              <a:t>market → skills → roadmap → decision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143000" y="4892040"/>
            <a:ext cx="9902952" cy="7680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417320" y="5111496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B454"/>
                </a:solidFill>
                <a:latin typeface="Avenir Next"/>
              </a:rPr>
              <a:t>Design note: </a:t>
            </a:r>
            <a:r>
              <a:rPr sz="1150" b="0">
                <a:solidFill>
                  <a:srgbClr val="F4F8FF"/>
                </a:solidFill>
                <a:latin typeface="Avenir Next"/>
              </a:rPr>
              <a:t>these are reference architectures—not claims that every named platform uses LLM agents internally.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-292608"/>
            <a:ext cx="658368" cy="65836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56032" y="6236208"/>
            <a:ext cx="566928" cy="56692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075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915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107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622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138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1695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685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200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2319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075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5915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7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622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138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653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1695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685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200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716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2319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60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075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5915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107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622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138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653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1695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685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200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716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82319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60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075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35915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107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22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5138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653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1695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6685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200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716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82319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075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5915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107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622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138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5653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1695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6685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7200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7716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82319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560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3075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35915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4107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4622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138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653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61695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6685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7200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716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82319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" y="6583680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91A6C0"/>
                </a:solidFill>
                <a:latin typeface="Avenir Next"/>
              </a:rPr>
              <a:t>FROM AI TO AGENTS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91A6C0"/>
                </a:solidFill>
                <a:latin typeface="Avenir Next"/>
              </a:rPr>
              <a:t>11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48640" y="384048"/>
            <a:ext cx="160020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393192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TRAVEL EXAMPLE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85039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4F8FF"/>
                </a:solidFill>
                <a:latin typeface="Avenir Next"/>
              </a:rPr>
              <a:t>The same travel goal, two very different architectures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66928" y="1444752"/>
            <a:ext cx="5257800" cy="4480560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37E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841248" y="1737360"/>
            <a:ext cx="169164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41248" y="1746504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SINGLE AGENT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993392" y="2377440"/>
            <a:ext cx="2331720" cy="804672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993392" y="2377440"/>
            <a:ext cx="54864" cy="804672"/>
          </a:xfrm>
          <a:prstGeom prst="rect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176272" y="2514600"/>
            <a:ext cx="20116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TRAVEL AGENT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76272" y="2834640"/>
            <a:ext cx="20116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one context • many tools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14400" y="3749039"/>
            <a:ext cx="1261872" cy="640080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14400" y="3749039"/>
            <a:ext cx="54864" cy="64008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97280" y="3886200"/>
            <a:ext cx="9418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SEARCH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97280" y="4206240"/>
            <a:ext cx="941831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tool</a:t>
            </a:r>
          </a:p>
        </p:txBody>
      </p:sp>
      <p:cxnSp>
        <p:nvCxnSpPr>
          <p:cNvPr id="92" name="Connector 91"/>
          <p:cNvCxnSpPr/>
          <p:nvPr/>
        </p:nvCxnSpPr>
        <p:spPr>
          <a:xfrm flipH="1">
            <a:off x="1545336" y="3182112"/>
            <a:ext cx="1609344" cy="566927"/>
          </a:xfrm>
          <a:prstGeom prst="line">
            <a:avLst/>
          </a:prstGeom>
          <a:ln w="1397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2423160" y="3749039"/>
            <a:ext cx="1261872" cy="640080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423160" y="3749039"/>
            <a:ext cx="54864" cy="640080"/>
          </a:xfrm>
          <a:prstGeom prst="rect">
            <a:avLst/>
          </a:prstGeom>
          <a:solidFill>
            <a:srgbClr val="43D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606040" y="3886200"/>
            <a:ext cx="9418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BUDGET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606040" y="4206240"/>
            <a:ext cx="941831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tool</a:t>
            </a:r>
          </a:p>
        </p:txBody>
      </p:sp>
      <p:cxnSp>
        <p:nvCxnSpPr>
          <p:cNvPr id="97" name="Connector 96"/>
          <p:cNvCxnSpPr/>
          <p:nvPr/>
        </p:nvCxnSpPr>
        <p:spPr>
          <a:xfrm flipH="1">
            <a:off x="3054096" y="3182112"/>
            <a:ext cx="100584" cy="566927"/>
          </a:xfrm>
          <a:prstGeom prst="line">
            <a:avLst/>
          </a:prstGeom>
          <a:ln w="1397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/>
          <p:cNvSpPr/>
          <p:nvPr/>
        </p:nvSpPr>
        <p:spPr>
          <a:xfrm>
            <a:off x="3931920" y="3749039"/>
            <a:ext cx="1261872" cy="640080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931920" y="3749039"/>
            <a:ext cx="54864" cy="640080"/>
          </a:xfrm>
          <a:prstGeom prst="rect">
            <a:avLst/>
          </a:prstGeom>
          <a:solidFill>
            <a:srgbClr val="93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114800" y="3886200"/>
            <a:ext cx="9418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PLANNING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114800" y="4206240"/>
            <a:ext cx="941831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tool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3154680" y="3182112"/>
            <a:ext cx="1408176" cy="566927"/>
          </a:xfrm>
          <a:prstGeom prst="line">
            <a:avLst/>
          </a:prstGeom>
          <a:ln w="1397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841248" y="4892040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1A6C0"/>
                </a:solidFill>
                <a:latin typeface="Avenir Next"/>
              </a:rPr>
              <a:t>Best when one agent can reliably manage the goal and toolset.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355080" y="1444752"/>
            <a:ext cx="5257800" cy="4480560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6629400" y="1737360"/>
            <a:ext cx="182880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629400" y="1746504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B454"/>
                </a:solidFill>
                <a:latin typeface="Avenir Next"/>
              </a:rPr>
              <a:t>MULTI-AGENT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799831" y="2221992"/>
            <a:ext cx="2331720" cy="694944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799831" y="2221992"/>
            <a:ext cx="54864" cy="694944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982711" y="2359152"/>
            <a:ext cx="20116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TRAVEL MANAGER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982711" y="2679192"/>
            <a:ext cx="20116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delegate + integrate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583680" y="3337560"/>
            <a:ext cx="2057400" cy="603504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583680" y="3337560"/>
            <a:ext cx="54864" cy="603504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766560" y="347472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FLIGHT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766560" y="3794760"/>
            <a:ext cx="173736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specialist</a:t>
            </a:r>
          </a:p>
        </p:txBody>
      </p:sp>
      <p:cxnSp>
        <p:nvCxnSpPr>
          <p:cNvPr id="115" name="Connector 114"/>
          <p:cNvCxnSpPr/>
          <p:nvPr/>
        </p:nvCxnSpPr>
        <p:spPr>
          <a:xfrm flipH="1">
            <a:off x="7607808" y="2916936"/>
            <a:ext cx="1353312" cy="420624"/>
          </a:xfrm>
          <a:prstGeom prst="line">
            <a:avLst/>
          </a:prstGeom>
          <a:ln w="1270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ounded Rectangle 115"/>
          <p:cNvSpPr/>
          <p:nvPr/>
        </p:nvSpPr>
        <p:spPr>
          <a:xfrm>
            <a:off x="9006840" y="3337560"/>
            <a:ext cx="2057400" cy="603504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006840" y="3337560"/>
            <a:ext cx="54864" cy="603504"/>
          </a:xfrm>
          <a:prstGeom prst="rect">
            <a:avLst/>
          </a:prstGeom>
          <a:solidFill>
            <a:srgbClr val="93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189719" y="347472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HOTEL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189719" y="3794760"/>
            <a:ext cx="173736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specialist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8961120" y="2916936"/>
            <a:ext cx="1069847" cy="420624"/>
          </a:xfrm>
          <a:prstGeom prst="line">
            <a:avLst/>
          </a:prstGeom>
          <a:ln w="1270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/>
          <p:cNvSpPr/>
          <p:nvPr/>
        </p:nvSpPr>
        <p:spPr>
          <a:xfrm>
            <a:off x="6583680" y="4270248"/>
            <a:ext cx="2057400" cy="603504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583680" y="4270248"/>
            <a:ext cx="54864" cy="603504"/>
          </a:xfrm>
          <a:prstGeom prst="rect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766560" y="440740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ACTIVITY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766560" y="4727448"/>
            <a:ext cx="173736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specialist</a:t>
            </a:r>
          </a:p>
        </p:txBody>
      </p:sp>
      <p:cxnSp>
        <p:nvCxnSpPr>
          <p:cNvPr id="125" name="Connector 124"/>
          <p:cNvCxnSpPr/>
          <p:nvPr/>
        </p:nvCxnSpPr>
        <p:spPr>
          <a:xfrm flipH="1">
            <a:off x="7607808" y="2916936"/>
            <a:ext cx="1353312" cy="1353312"/>
          </a:xfrm>
          <a:prstGeom prst="line">
            <a:avLst/>
          </a:prstGeom>
          <a:ln w="1270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ounded Rectangle 125"/>
          <p:cNvSpPr/>
          <p:nvPr/>
        </p:nvSpPr>
        <p:spPr>
          <a:xfrm>
            <a:off x="9006840" y="4270248"/>
            <a:ext cx="2057400" cy="603504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006840" y="4270248"/>
            <a:ext cx="54864" cy="603504"/>
          </a:xfrm>
          <a:prstGeom prst="rect">
            <a:avLst/>
          </a:prstGeom>
          <a:solidFill>
            <a:srgbClr val="43D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189719" y="440740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BUDGET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189719" y="4727448"/>
            <a:ext cx="173736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specialist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8961120" y="2916936"/>
            <a:ext cx="1069847" cy="1353312"/>
          </a:xfrm>
          <a:prstGeom prst="line">
            <a:avLst/>
          </a:prstGeom>
          <a:ln w="1270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6629400" y="5239512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1A6C0"/>
                </a:solidFill>
                <a:latin typeface="Avenir Next"/>
              </a:rPr>
              <a:t>Best when subtasks need distinct expertise or parallel 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-292608"/>
            <a:ext cx="658368" cy="65836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56032" y="6236208"/>
            <a:ext cx="566928" cy="56692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075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915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107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622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138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1695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685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200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2319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075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5915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7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622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138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653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1695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685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200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716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2319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60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075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5915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107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622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138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653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1695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685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200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716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82319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60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075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35915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107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22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5138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653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1695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6685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200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716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82319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075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5915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107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622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138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5653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1695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6685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7200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7716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82319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560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3075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35915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4107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4622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138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653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61695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6685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7200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716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82319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" y="6583680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91A6C0"/>
                </a:solidFill>
                <a:latin typeface="Avenir Next"/>
              </a:rPr>
              <a:t>FROM AI TO AGENTS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91A6C0"/>
                </a:solidFill>
                <a:latin typeface="Avenir Next"/>
              </a:rPr>
              <a:t>12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48640" y="384048"/>
            <a:ext cx="160020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393192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TEAM ANALOGY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85039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4F8FF"/>
                </a:solidFill>
                <a:latin typeface="Avenir Next"/>
              </a:rPr>
              <a:t>Specialization becomes intuitive when agents resemble a team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66928" y="1417320"/>
            <a:ext cx="6720840" cy="4553712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841248" y="1709928"/>
            <a:ext cx="201168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41248" y="1719072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43D17A"/>
                </a:solidFill>
                <a:latin typeface="Avenir Next"/>
              </a:rPr>
              <a:t>SOFTWARE DELIVERY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697480" y="2267712"/>
            <a:ext cx="2423160" cy="65836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697480" y="2267712"/>
            <a:ext cx="54864" cy="658368"/>
          </a:xfrm>
          <a:prstGeom prst="rect">
            <a:avLst/>
          </a:prstGeom>
          <a:solidFill>
            <a:srgbClr val="43D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880360" y="2404872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PROJECT MANAGER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880360" y="2724912"/>
            <a:ext cx="2103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requirements + coordination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41248" y="3429000"/>
            <a:ext cx="1280160" cy="65836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3429000"/>
            <a:ext cx="54864" cy="65836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24128" y="3566160"/>
            <a:ext cx="9601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DEVELOPER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24128" y="3886200"/>
            <a:ext cx="96011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specialist</a:t>
            </a:r>
          </a:p>
        </p:txBody>
      </p:sp>
      <p:cxnSp>
        <p:nvCxnSpPr>
          <p:cNvPr id="92" name="Connector 91"/>
          <p:cNvCxnSpPr/>
          <p:nvPr/>
        </p:nvCxnSpPr>
        <p:spPr>
          <a:xfrm flipH="1">
            <a:off x="1481328" y="2926080"/>
            <a:ext cx="2432304" cy="502920"/>
          </a:xfrm>
          <a:prstGeom prst="line">
            <a:avLst/>
          </a:prstGeom>
          <a:ln w="1270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2441448" y="3429000"/>
            <a:ext cx="1280160" cy="65836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441448" y="3429000"/>
            <a:ext cx="54864" cy="65836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624328" y="3566160"/>
            <a:ext cx="9601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UI AGENT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624328" y="3886200"/>
            <a:ext cx="96011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specialist</a:t>
            </a:r>
          </a:p>
        </p:txBody>
      </p:sp>
      <p:cxnSp>
        <p:nvCxnSpPr>
          <p:cNvPr id="97" name="Connector 96"/>
          <p:cNvCxnSpPr/>
          <p:nvPr/>
        </p:nvCxnSpPr>
        <p:spPr>
          <a:xfrm flipH="1">
            <a:off x="3081528" y="2926080"/>
            <a:ext cx="832104" cy="502920"/>
          </a:xfrm>
          <a:prstGeom prst="line">
            <a:avLst/>
          </a:prstGeom>
          <a:ln w="1270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/>
          <p:cNvSpPr/>
          <p:nvPr/>
        </p:nvSpPr>
        <p:spPr>
          <a:xfrm>
            <a:off x="4041648" y="3429000"/>
            <a:ext cx="1280160" cy="65836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041648" y="3429000"/>
            <a:ext cx="54864" cy="658368"/>
          </a:xfrm>
          <a:prstGeom prst="rect">
            <a:avLst/>
          </a:prstGeom>
          <a:solidFill>
            <a:srgbClr val="93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224528" y="3566160"/>
            <a:ext cx="9601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DB AGENT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224528" y="3886200"/>
            <a:ext cx="96011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specialist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3913632" y="2926080"/>
            <a:ext cx="768096" cy="502920"/>
          </a:xfrm>
          <a:prstGeom prst="line">
            <a:avLst/>
          </a:prstGeom>
          <a:ln w="1270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ounded Rectangle 102"/>
          <p:cNvSpPr/>
          <p:nvPr/>
        </p:nvSpPr>
        <p:spPr>
          <a:xfrm>
            <a:off x="5641848" y="3429000"/>
            <a:ext cx="1280160" cy="65836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641848" y="3429000"/>
            <a:ext cx="54864" cy="658368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824728" y="3566160"/>
            <a:ext cx="9601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TEST AGENT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824728" y="3886200"/>
            <a:ext cx="96011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specialist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3913632" y="2926080"/>
            <a:ext cx="2368296" cy="502920"/>
          </a:xfrm>
          <a:prstGeom prst="line">
            <a:avLst/>
          </a:prstGeom>
          <a:ln w="1270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ounded Rectangle 107"/>
          <p:cNvSpPr/>
          <p:nvPr/>
        </p:nvSpPr>
        <p:spPr>
          <a:xfrm>
            <a:off x="2697480" y="4617720"/>
            <a:ext cx="2423160" cy="65836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2697480" y="4617720"/>
            <a:ext cx="54864" cy="658368"/>
          </a:xfrm>
          <a:prstGeom prst="rect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880360" y="475488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REVIEW AGENT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880360" y="5074920"/>
            <a:ext cx="2103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quality gate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1481328" y="4087368"/>
            <a:ext cx="2432304" cy="530352"/>
          </a:xfrm>
          <a:prstGeom prst="line">
            <a:avLst/>
          </a:prstGeom>
          <a:ln w="1270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3081528" y="4087368"/>
            <a:ext cx="832104" cy="530352"/>
          </a:xfrm>
          <a:prstGeom prst="line">
            <a:avLst/>
          </a:prstGeom>
          <a:ln w="1270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>
            <a:off x="3913632" y="4087368"/>
            <a:ext cx="768096" cy="530352"/>
          </a:xfrm>
          <a:prstGeom prst="line">
            <a:avLst/>
          </a:prstGeom>
          <a:ln w="1270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H="1">
            <a:off x="3913632" y="4087368"/>
            <a:ext cx="2368296" cy="530352"/>
          </a:xfrm>
          <a:prstGeom prst="line">
            <a:avLst/>
          </a:prstGeom>
          <a:ln w="1270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ounded Rectangle 115"/>
          <p:cNvSpPr/>
          <p:nvPr/>
        </p:nvSpPr>
        <p:spPr>
          <a:xfrm>
            <a:off x="7726679" y="1417320"/>
            <a:ext cx="3858768" cy="4553712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8028431" y="1709928"/>
            <a:ext cx="1938528" cy="310896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0C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028431" y="1719072"/>
            <a:ext cx="1938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9368FF"/>
                </a:solidFill>
                <a:latin typeface="Avenir Next"/>
              </a:rPr>
              <a:t>SUPPORT WORKFLOW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8046720" y="2359152"/>
            <a:ext cx="3154680" cy="530352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046720" y="2359152"/>
            <a:ext cx="54864" cy="530352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229600" y="2496312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ORDER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229600" y="2816352"/>
            <a:ext cx="283464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status</a:t>
            </a:r>
          </a:p>
        </p:txBody>
      </p:sp>
      <p:sp>
        <p:nvSpPr>
          <p:cNvPr id="123" name="Chevron 122"/>
          <p:cNvSpPr/>
          <p:nvPr/>
        </p:nvSpPr>
        <p:spPr>
          <a:xfrm rot="5400000">
            <a:off x="9491472" y="2889504"/>
            <a:ext cx="256032" cy="210312"/>
          </a:xfrm>
          <a:prstGeom prst="chevron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8046720" y="3072384"/>
            <a:ext cx="3154680" cy="530352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046720" y="3072384"/>
            <a:ext cx="54864" cy="530352"/>
          </a:xfrm>
          <a:prstGeom prst="rect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229600" y="3209544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DELIVERY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229600" y="3529584"/>
            <a:ext cx="283464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tracking</a:t>
            </a:r>
          </a:p>
        </p:txBody>
      </p:sp>
      <p:sp>
        <p:nvSpPr>
          <p:cNvPr id="128" name="Chevron 127"/>
          <p:cNvSpPr/>
          <p:nvPr/>
        </p:nvSpPr>
        <p:spPr>
          <a:xfrm rot="5400000">
            <a:off x="9491472" y="3602736"/>
            <a:ext cx="256032" cy="210312"/>
          </a:xfrm>
          <a:prstGeom prst="chevron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8046720" y="3785616"/>
            <a:ext cx="3154680" cy="530352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046720" y="3785616"/>
            <a:ext cx="54864" cy="530352"/>
          </a:xfrm>
          <a:prstGeom prst="rect">
            <a:avLst/>
          </a:prstGeom>
          <a:solidFill>
            <a:srgbClr val="93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229600" y="3922776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POLICY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29600" y="4242816"/>
            <a:ext cx="283464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eligibility</a:t>
            </a:r>
          </a:p>
        </p:txBody>
      </p:sp>
      <p:sp>
        <p:nvSpPr>
          <p:cNvPr id="133" name="Chevron 132"/>
          <p:cNvSpPr/>
          <p:nvPr/>
        </p:nvSpPr>
        <p:spPr>
          <a:xfrm rot="5400000">
            <a:off x="9491472" y="4315968"/>
            <a:ext cx="256032" cy="210312"/>
          </a:xfrm>
          <a:prstGeom prst="chevron">
            <a:avLst/>
          </a:prstGeom>
          <a:solidFill>
            <a:srgbClr val="93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8046720" y="4498848"/>
            <a:ext cx="3154680" cy="530352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8046720" y="4498848"/>
            <a:ext cx="54864" cy="530352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229600" y="4636008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REFUND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229600" y="4956048"/>
            <a:ext cx="283464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approved action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046720" y="5394960"/>
            <a:ext cx="3154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91A6C0"/>
                </a:solidFill>
                <a:latin typeface="Avenir Next"/>
              </a:rPr>
              <a:t>Clear roles make failures easier to isolate.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-292608"/>
            <a:ext cx="658368" cy="65836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56032" y="6236208"/>
            <a:ext cx="566928" cy="56692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075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915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107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622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138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1695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685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200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2319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075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5915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7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622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138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653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1695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685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200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716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2319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60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075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5915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107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622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138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653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1695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685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200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716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82319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60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075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35915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107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22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5138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653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1695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6685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200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716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82319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075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5915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107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622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138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5653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1695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6685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7200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7716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82319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560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3075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35915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4107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4622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138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653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61695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6685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7200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716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82319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" y="6583680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91A6C0"/>
                </a:solidFill>
                <a:latin typeface="Avenir Next"/>
              </a:rPr>
              <a:t>FROM AI TO AGENTS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91A6C0"/>
                </a:solidFill>
                <a:latin typeface="Avenir Next"/>
              </a:rPr>
              <a:t>13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48640" y="384048"/>
            <a:ext cx="160020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393192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ARCHITECTURE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85039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4F8FF"/>
                </a:solidFill>
                <a:latin typeface="Avenir Next"/>
              </a:rPr>
              <a:t>Single-agent pattern: one decision-maker, bounded capabilities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2487168"/>
            <a:ext cx="1508760" cy="84124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94360" y="2487168"/>
            <a:ext cx="54864" cy="84124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77240" y="2624328"/>
            <a:ext cx="11887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STUDENT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77240" y="2944368"/>
            <a:ext cx="11887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resume + goal</a:t>
            </a:r>
          </a:p>
        </p:txBody>
      </p:sp>
      <p:sp>
        <p:nvSpPr>
          <p:cNvPr id="85" name="Chevron 84"/>
          <p:cNvSpPr/>
          <p:nvPr/>
        </p:nvSpPr>
        <p:spPr>
          <a:xfrm>
            <a:off x="2286000" y="2724912"/>
            <a:ext cx="310896" cy="347472"/>
          </a:xfrm>
          <a:prstGeom prst="chevron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2761488" y="1673352"/>
            <a:ext cx="2788920" cy="2487168"/>
          </a:xfrm>
          <a:prstGeom prst="roundRect">
            <a:avLst/>
          </a:prstGeom>
          <a:solidFill>
            <a:srgbClr val="101F36"/>
          </a:solidFill>
          <a:ln w="19050">
            <a:solidFill>
              <a:srgbClr val="37E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3090672" y="1975104"/>
            <a:ext cx="2121408" cy="310896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0C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090672" y="1984248"/>
            <a:ext cx="21214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PLACEMENT AGENT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108960" y="2633472"/>
            <a:ext cx="206654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4F8FF"/>
                </a:solidFill>
                <a:latin typeface="Avenir Next"/>
              </a:rPr>
              <a:t>analyse → prioritize → plan → schedule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337560" y="3511296"/>
            <a:ext cx="1645920" cy="310896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F4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337560" y="3520439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60B18"/>
                </a:solidFill>
                <a:latin typeface="Avenir Next"/>
              </a:rPr>
              <a:t>GEMINI API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492240" y="1371600"/>
            <a:ext cx="1691640" cy="84124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492240" y="1371600"/>
            <a:ext cx="54864" cy="84124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675120" y="150876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RESUME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675120" y="1828800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evidence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732520" y="1371600"/>
            <a:ext cx="1691640" cy="84124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732520" y="1371600"/>
            <a:ext cx="54864" cy="841248"/>
          </a:xfrm>
          <a:prstGeom prst="rect">
            <a:avLst/>
          </a:prstGeom>
          <a:solidFill>
            <a:srgbClr val="93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915400" y="150876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JOB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15400" y="1828800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requirements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492240" y="2971800"/>
            <a:ext cx="1691640" cy="84124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492240" y="2971800"/>
            <a:ext cx="54864" cy="841248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675120" y="310896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CALENDAR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75120" y="3429000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action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732520" y="2971800"/>
            <a:ext cx="1691640" cy="84124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732520" y="2971800"/>
            <a:ext cx="54864" cy="841248"/>
          </a:xfrm>
          <a:prstGeom prst="rect">
            <a:avLst/>
          </a:prstGeom>
          <a:solidFill>
            <a:srgbClr val="43D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915400" y="310896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STATE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15400" y="3429000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progress</a:t>
            </a:r>
          </a:p>
        </p:txBody>
      </p:sp>
      <p:cxnSp>
        <p:nvCxnSpPr>
          <p:cNvPr id="108" name="Connector 107"/>
          <p:cNvCxnSpPr/>
          <p:nvPr/>
        </p:nvCxnSpPr>
        <p:spPr>
          <a:xfrm flipV="1">
            <a:off x="5550408" y="1792224"/>
            <a:ext cx="941832" cy="1115568"/>
          </a:xfrm>
          <a:prstGeom prst="line">
            <a:avLst/>
          </a:prstGeom>
          <a:ln w="1778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5550408" y="1792224"/>
            <a:ext cx="3182112" cy="1115568"/>
          </a:xfrm>
          <a:prstGeom prst="line">
            <a:avLst/>
          </a:prstGeom>
          <a:ln w="1778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5550408" y="2907792"/>
            <a:ext cx="941832" cy="484632"/>
          </a:xfrm>
          <a:prstGeom prst="line">
            <a:avLst/>
          </a:prstGeom>
          <a:ln w="1778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5550408" y="2907792"/>
            <a:ext cx="3182112" cy="484632"/>
          </a:xfrm>
          <a:prstGeom prst="line">
            <a:avLst/>
          </a:prstGeom>
          <a:ln w="1778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ounded Rectangle 111"/>
          <p:cNvSpPr/>
          <p:nvPr/>
        </p:nvSpPr>
        <p:spPr>
          <a:xfrm>
            <a:off x="7543800" y="4709160"/>
            <a:ext cx="2880360" cy="777240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543800" y="4709160"/>
            <a:ext cx="54864" cy="777240"/>
          </a:xfrm>
          <a:prstGeom prst="rect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726679" y="484632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PLAN + CALENDAR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726679" y="5166360"/>
            <a:ext cx="25603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human approves commitments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5550408" y="3200400"/>
            <a:ext cx="3429000" cy="1508760"/>
          </a:xfrm>
          <a:prstGeom prst="line">
            <a:avLst/>
          </a:prstGeom>
          <a:ln w="22860">
            <a:solidFill>
              <a:srgbClr val="37E6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685800" y="5230368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1A6C0"/>
                </a:solidFill>
                <a:latin typeface="Avenir Next"/>
              </a:rPr>
              <a:t>Use when ownership is clear and the task fits one coherent context.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-292608"/>
            <a:ext cx="658368" cy="65836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56032" y="6236208"/>
            <a:ext cx="566928" cy="56692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075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915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107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622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138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1695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685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200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2319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075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5915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7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622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138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653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1695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685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200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716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2319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60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075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5915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107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622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138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653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1695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685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200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716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82319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60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075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35915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107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22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5138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653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1695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6685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200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716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82319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075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5915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107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622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138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5653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1695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6685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7200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7716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82319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560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3075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35915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4107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4622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138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653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61695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6685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7200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716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82319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" y="6583680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91A6C0"/>
                </a:solidFill>
                <a:latin typeface="Avenir Next"/>
              </a:rPr>
              <a:t>FROM AI TO AGENTS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91A6C0"/>
                </a:solidFill>
                <a:latin typeface="Avenir Next"/>
              </a:rPr>
              <a:t>14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48640" y="384048"/>
            <a:ext cx="160020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393192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LLM CALL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85039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4F8FF"/>
                </a:solidFill>
                <a:latin typeface="Avenir Next"/>
              </a:rPr>
              <a:t>Demo 1 — Resume ↔ job gap analysis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48640" y="1417320"/>
            <a:ext cx="3017520" cy="4526280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822960" y="1682496"/>
            <a:ext cx="1170432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2960" y="1691640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5B8CFF"/>
                </a:solidFill>
                <a:latin typeface="Avenir Next"/>
              </a:rPr>
              <a:t>INPUT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2960" y="2176272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4F8FF"/>
                </a:solidFill>
                <a:latin typeface="Avenir Next"/>
              </a:rPr>
              <a:t>ARJUN REDDY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2960" y="2615184"/>
            <a:ext cx="239572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1A6C0"/>
                </a:solidFill>
                <a:latin typeface="Avenir Next"/>
              </a:rPr>
              <a:t>Python • SQL • Flask
ML project • Git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22960" y="3401568"/>
            <a:ext cx="2450592" cy="0"/>
          </a:xfrm>
          <a:prstGeom prst="line">
            <a:avLst/>
          </a:prstGeom>
          <a:ln w="1270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822960" y="3703320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4F8FF"/>
                </a:solidFill>
                <a:latin typeface="Avenir Next"/>
              </a:rPr>
              <a:t>GRADUATE AI ENGINEER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2960" y="4114800"/>
            <a:ext cx="239572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1A6C0"/>
                </a:solidFill>
                <a:latin typeface="Avenir Next"/>
              </a:rPr>
              <a:t>Gemini API • agents
Docker • CI/CD • evals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22960" y="5276088"/>
            <a:ext cx="1609344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22960" y="5285231"/>
            <a:ext cx="16093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9368FF"/>
                </a:solidFill>
                <a:latin typeface="Avenir Next"/>
              </a:rPr>
              <a:t>ONE GEMINI CALL</a:t>
            </a:r>
          </a:p>
        </p:txBody>
      </p:sp>
      <p:sp>
        <p:nvSpPr>
          <p:cNvPr id="91" name="Chevron 90"/>
          <p:cNvSpPr/>
          <p:nvPr/>
        </p:nvSpPr>
        <p:spPr>
          <a:xfrm>
            <a:off x="3794760" y="3246120"/>
            <a:ext cx="502920" cy="566928"/>
          </a:xfrm>
          <a:prstGeom prst="chevron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4498848" y="1481328"/>
            <a:ext cx="1920240" cy="1078992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681728" y="1645920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37E6D5"/>
                </a:solidFill>
                <a:latin typeface="Avenir Next"/>
              </a:rPr>
              <a:t>72%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681728" y="2139696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91A6C0"/>
                </a:solidFill>
                <a:latin typeface="Avenir Next"/>
              </a:rPr>
              <a:t>MATCH SCORE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611112" y="1481328"/>
            <a:ext cx="2240280" cy="1078992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793992" y="1645920"/>
            <a:ext cx="1874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43D17A"/>
                </a:solidFill>
                <a:latin typeface="Avenir Next"/>
              </a:rPr>
              <a:t>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793992" y="2139696"/>
            <a:ext cx="1874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91A6C0"/>
                </a:solidFill>
                <a:latin typeface="Avenir Next"/>
              </a:rPr>
              <a:t>EVIDENCE-BACKED MATCHES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043416" y="1481328"/>
            <a:ext cx="1920240" cy="1078992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226296" y="1645920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B454"/>
                </a:solidFill>
                <a:latin typeface="Avenir Next"/>
              </a:rPr>
              <a:t>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226296" y="2139696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91A6C0"/>
                </a:solidFill>
                <a:latin typeface="Avenir Next"/>
              </a:rPr>
              <a:t>PRIORITY GAPS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498848" y="2852928"/>
            <a:ext cx="6473952" cy="2770632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773168" y="3127248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3D17A"/>
                </a:solidFill>
                <a:latin typeface="Avenir Next"/>
              </a:rPr>
              <a:t>STRONG SIGNALS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773168" y="3529584"/>
            <a:ext cx="22402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4F8FF"/>
                </a:solidFill>
                <a:latin typeface="Avenir Next"/>
              </a:rPr>
              <a:t>• Python + SQL
• REST API project
• ML evaluation
• communication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351775" y="3127248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B454"/>
                </a:solidFill>
                <a:latin typeface="Avenir Next"/>
              </a:rPr>
              <a:t>HIRING GAPS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351775" y="3529584"/>
            <a:ext cx="23317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4F8FF"/>
                </a:solidFill>
                <a:latin typeface="Avenir Next"/>
              </a:rPr>
              <a:t>• Gemini function calls
• Docker deployment
• automated tests
• model observability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9646920" y="5074920"/>
            <a:ext cx="1005840" cy="310896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646920" y="5084064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HONEST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526280" y="5870448"/>
            <a:ext cx="6217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91A6C0"/>
                </a:solidFill>
                <a:latin typeface="Avenir Next"/>
              </a:rPr>
              <a:t>demo_1_llm_call.py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-292608"/>
            <a:ext cx="658368" cy="65836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56032" y="6236208"/>
            <a:ext cx="566928" cy="56692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075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915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107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622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138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1695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685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200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2319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075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5915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7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622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138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653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1695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685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200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716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2319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60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075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5915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107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622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138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653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1695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685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200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716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82319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60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075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35915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107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22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5138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653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1695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6685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200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716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82319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075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5915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107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622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138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5653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1695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6685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7200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7716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82319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560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3075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35915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4107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4622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138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653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61695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6685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7200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716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82319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" y="6583680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91A6C0"/>
                </a:solidFill>
                <a:latin typeface="Avenir Next"/>
              </a:rPr>
              <a:t>FROM AI TO AGENTS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91A6C0"/>
                </a:solidFill>
                <a:latin typeface="Avenir Next"/>
              </a:rPr>
              <a:t>15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48640" y="384048"/>
            <a:ext cx="160020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393192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SINGLE AGENT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85039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4F8FF"/>
                </a:solidFill>
                <a:latin typeface="Avenir Next"/>
              </a:rPr>
              <a:t>Demo 2 — One agent turns gaps into scheduled work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66928" y="1554480"/>
            <a:ext cx="2029968" cy="1143000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731520" y="1810512"/>
            <a:ext cx="438912" cy="438912"/>
          </a:xfrm>
          <a:prstGeom prst="ellipse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60B18"/>
                </a:solidFill>
                <a:latin typeface="Avenir Next"/>
              </a:rP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316736" y="1746504"/>
            <a:ext cx="10607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4F8FF"/>
                </a:solidFill>
                <a:latin typeface="Avenir Next"/>
              </a:rPr>
              <a:t>ANALYSE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316736" y="2103120"/>
            <a:ext cx="10607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1A6C0"/>
                </a:solidFill>
                <a:latin typeface="Avenir Next"/>
              </a:rPr>
              <a:t>resume evidence</a:t>
            </a:r>
          </a:p>
        </p:txBody>
      </p:sp>
      <p:sp>
        <p:nvSpPr>
          <p:cNvPr id="85" name="Chevron 84"/>
          <p:cNvSpPr/>
          <p:nvPr/>
        </p:nvSpPr>
        <p:spPr>
          <a:xfrm>
            <a:off x="2670048" y="1901952"/>
            <a:ext cx="219456" cy="274320"/>
          </a:xfrm>
          <a:prstGeom prst="chevron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2962656" y="1554480"/>
            <a:ext cx="2029968" cy="1143000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93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127248" y="1810512"/>
            <a:ext cx="438912" cy="438912"/>
          </a:xfrm>
          <a:prstGeom prst="ellipse">
            <a:avLst/>
          </a:prstGeom>
          <a:solidFill>
            <a:srgbClr val="93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60B18"/>
                </a:solidFill>
                <a:latin typeface="Avenir Next"/>
              </a:rP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712464" y="1746504"/>
            <a:ext cx="10607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4F8FF"/>
                </a:solidFill>
                <a:latin typeface="Avenir Next"/>
              </a:rPr>
              <a:t>PRIORITIZE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712464" y="2103120"/>
            <a:ext cx="10607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1A6C0"/>
                </a:solidFill>
                <a:latin typeface="Avenir Next"/>
              </a:rPr>
              <a:t>impact × time</a:t>
            </a:r>
          </a:p>
        </p:txBody>
      </p:sp>
      <p:sp>
        <p:nvSpPr>
          <p:cNvPr id="90" name="Chevron 89"/>
          <p:cNvSpPr/>
          <p:nvPr/>
        </p:nvSpPr>
        <p:spPr>
          <a:xfrm>
            <a:off x="5065776" y="1901952"/>
            <a:ext cx="219456" cy="274320"/>
          </a:xfrm>
          <a:prstGeom prst="chevron">
            <a:avLst/>
          </a:prstGeom>
          <a:solidFill>
            <a:srgbClr val="93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5358384" y="1554480"/>
            <a:ext cx="2029968" cy="1143000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37E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522976" y="1810512"/>
            <a:ext cx="438912" cy="438912"/>
          </a:xfrm>
          <a:prstGeom prst="ellipse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60B18"/>
                </a:solidFill>
                <a:latin typeface="Avenir Next"/>
              </a:rP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108192" y="1746504"/>
            <a:ext cx="10607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4F8FF"/>
                </a:solidFill>
                <a:latin typeface="Avenir Next"/>
              </a:rPr>
              <a:t>PLAN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108192" y="2103120"/>
            <a:ext cx="10607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1A6C0"/>
                </a:solidFill>
                <a:latin typeface="Avenir Next"/>
              </a:rPr>
              <a:t>measurable tasks</a:t>
            </a:r>
          </a:p>
        </p:txBody>
      </p:sp>
      <p:sp>
        <p:nvSpPr>
          <p:cNvPr id="95" name="Chevron 94"/>
          <p:cNvSpPr/>
          <p:nvPr/>
        </p:nvSpPr>
        <p:spPr>
          <a:xfrm>
            <a:off x="7461504" y="1901952"/>
            <a:ext cx="219456" cy="274320"/>
          </a:xfrm>
          <a:prstGeom prst="chevron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7754112" y="1554480"/>
            <a:ext cx="2029968" cy="1143000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7918704" y="1810512"/>
            <a:ext cx="438912" cy="438912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60B18"/>
                </a:solidFill>
                <a:latin typeface="Avenir Next"/>
              </a:rPr>
              <a:t>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503920" y="1746504"/>
            <a:ext cx="10607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4F8FF"/>
                </a:solidFill>
                <a:latin typeface="Avenir Next"/>
              </a:rPr>
              <a:t>ACT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503920" y="2103120"/>
            <a:ext cx="10607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1A6C0"/>
                </a:solidFill>
                <a:latin typeface="Avenir Next"/>
              </a:rPr>
              <a:t>create .ics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14400" y="3154680"/>
            <a:ext cx="6995160" cy="2423160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88720" y="3401568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7E6D5"/>
                </a:solidFill>
                <a:latin typeface="Avenir Next"/>
              </a:rPr>
              <a:t>14-DAY PREPARATION SPRINT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207008" y="3913632"/>
            <a:ext cx="658368" cy="493776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93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207008" y="3986784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9368FF"/>
                </a:solidFill>
                <a:latin typeface="Avenir Next"/>
              </a:rPr>
              <a:t>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316736" y="4242816"/>
            <a:ext cx="438912" cy="45720"/>
          </a:xfrm>
          <a:prstGeom prst="rect">
            <a:avLst/>
          </a:prstGeom>
          <a:solidFill>
            <a:srgbClr val="93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2057400" y="3913632"/>
            <a:ext cx="658368" cy="493776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057400" y="3986784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5B8CFF"/>
                </a:solidFill>
                <a:latin typeface="Avenir Next"/>
              </a:rPr>
              <a:t>2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167128" y="4242816"/>
            <a:ext cx="438912" cy="4572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2907792" y="3913632"/>
            <a:ext cx="658368" cy="493776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37E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907792" y="3986784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37E6D5"/>
                </a:solidFill>
                <a:latin typeface="Avenir Next"/>
              </a:rPr>
              <a:t>3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017520" y="4242816"/>
            <a:ext cx="438912" cy="45720"/>
          </a:xfrm>
          <a:prstGeom prst="rect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3758184" y="3913632"/>
            <a:ext cx="658368" cy="493776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758184" y="3986784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FFB454"/>
                </a:solidFill>
                <a:latin typeface="Avenir Next"/>
              </a:rPr>
              <a:t>4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867912" y="4242816"/>
            <a:ext cx="438912" cy="4572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4608576" y="3913632"/>
            <a:ext cx="658368" cy="493776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93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608576" y="3986784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9368FF"/>
                </a:solidFill>
                <a:latin typeface="Avenir Next"/>
              </a:rPr>
              <a:t>5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718304" y="4242816"/>
            <a:ext cx="438912" cy="45720"/>
          </a:xfrm>
          <a:prstGeom prst="rect">
            <a:avLst/>
          </a:prstGeom>
          <a:solidFill>
            <a:srgbClr val="93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5458968" y="3913632"/>
            <a:ext cx="658368" cy="493776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458968" y="3986784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5B8CFF"/>
                </a:solidFill>
                <a:latin typeface="Avenir Next"/>
              </a:rPr>
              <a:t>6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568696" y="4242816"/>
            <a:ext cx="438912" cy="4572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6309360" y="3913632"/>
            <a:ext cx="658368" cy="493776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37E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309360" y="3986784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37E6D5"/>
                </a:solidFill>
                <a:latin typeface="Avenir Next"/>
              </a:rPr>
              <a:t>7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419088" y="4242816"/>
            <a:ext cx="438912" cy="45720"/>
          </a:xfrm>
          <a:prstGeom prst="rect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1207008" y="4599432"/>
            <a:ext cx="658368" cy="493776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207008" y="4672584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FFB454"/>
                </a:solidFill>
                <a:latin typeface="Avenir Next"/>
              </a:rPr>
              <a:t>8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316736" y="4928616"/>
            <a:ext cx="438912" cy="4572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2057400" y="4599432"/>
            <a:ext cx="658368" cy="493776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93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2057400" y="4672584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9368FF"/>
                </a:solidFill>
                <a:latin typeface="Avenir Next"/>
              </a:rPr>
              <a:t>9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167128" y="4928616"/>
            <a:ext cx="438912" cy="45720"/>
          </a:xfrm>
          <a:prstGeom prst="rect">
            <a:avLst/>
          </a:prstGeom>
          <a:solidFill>
            <a:srgbClr val="93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2907792" y="4599432"/>
            <a:ext cx="658368" cy="493776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07792" y="4672584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5B8CFF"/>
                </a:solidFill>
                <a:latin typeface="Avenir Next"/>
              </a:rPr>
              <a:t>10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017520" y="4928616"/>
            <a:ext cx="438912" cy="4572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3758184" y="4599432"/>
            <a:ext cx="658368" cy="493776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37E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758184" y="4672584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37E6D5"/>
                </a:solidFill>
                <a:latin typeface="Avenir Next"/>
              </a:rPr>
              <a:t>11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867912" y="4928616"/>
            <a:ext cx="438912" cy="45720"/>
          </a:xfrm>
          <a:prstGeom prst="rect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4608576" y="4599432"/>
            <a:ext cx="658368" cy="493776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608576" y="4672584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FFB454"/>
                </a:solidFill>
                <a:latin typeface="Avenir Next"/>
              </a:rPr>
              <a:t>12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718304" y="4928616"/>
            <a:ext cx="438912" cy="4572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5458968" y="4599432"/>
            <a:ext cx="658368" cy="493776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93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458968" y="4672584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9368FF"/>
                </a:solidFill>
                <a:latin typeface="Avenir Next"/>
              </a:rPr>
              <a:t>13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568696" y="4928616"/>
            <a:ext cx="438912" cy="45720"/>
          </a:xfrm>
          <a:prstGeom prst="rect">
            <a:avLst/>
          </a:prstGeom>
          <a:solidFill>
            <a:srgbClr val="93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ounded Rectangle 140"/>
          <p:cNvSpPr/>
          <p:nvPr/>
        </p:nvSpPr>
        <p:spPr>
          <a:xfrm>
            <a:off x="6309360" y="4599432"/>
            <a:ext cx="658368" cy="493776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309360" y="4672584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5B8CFF"/>
                </a:solidFill>
                <a:latin typeface="Avenir Next"/>
              </a:rPr>
              <a:t>14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419088" y="4928616"/>
            <a:ext cx="438912" cy="4572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8321040" y="3154680"/>
            <a:ext cx="2971800" cy="2423160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8641080" y="3447288"/>
            <a:ext cx="137160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641080" y="3456432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B454"/>
                </a:solidFill>
                <a:latin typeface="Avenir Next"/>
              </a:rPr>
              <a:t>TOOL ACTION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641080" y="4041648"/>
            <a:ext cx="23042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4F8FF"/>
                </a:solidFill>
                <a:latin typeface="Avenir Next"/>
              </a:rPr>
              <a:t>create_preparation_schedule()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641080" y="4681728"/>
            <a:ext cx="23042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1A6C0"/>
                </a:solidFill>
                <a:latin typeface="Avenir Next"/>
              </a:rPr>
              <a:t>Outputs an importable calendar—not another paragraph.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549640" y="5870448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91A6C0"/>
                </a:solidFill>
                <a:latin typeface="Avenir Next"/>
              </a:rPr>
              <a:t>demo_2_single_agent.py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-292608"/>
            <a:ext cx="658368" cy="65836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56032" y="6236208"/>
            <a:ext cx="566928" cy="56692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075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915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107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622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138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1695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685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200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2319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075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5915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7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622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138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653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1695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685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200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716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2319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60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075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5915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107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622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138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653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1695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685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200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716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82319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60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075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35915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107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22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5138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653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1695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6685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200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716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82319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075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5915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107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622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138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5653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1695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6685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7200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7716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82319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560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3075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35915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4107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4622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138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653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61695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6685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7200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716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82319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" y="6583680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91A6C0"/>
                </a:solidFill>
                <a:latin typeface="Avenir Next"/>
              </a:rPr>
              <a:t>FROM AI TO AGENTS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91A6C0"/>
                </a:solidFill>
                <a:latin typeface="Avenir Next"/>
              </a:rPr>
              <a:t>16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48640" y="384048"/>
            <a:ext cx="160020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393192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COMPLEXITY THRESHOLD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85039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4F8FF"/>
                </a:solidFill>
                <a:latin typeface="Avenir Next"/>
              </a:rPr>
              <a:t>Split the system only after complexity earns it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1051560" y="5166360"/>
            <a:ext cx="9829800" cy="0"/>
          </a:xfrm>
          <a:prstGeom prst="line">
            <a:avLst/>
          </a:prstGeom>
          <a:ln w="22860">
            <a:solidFill>
              <a:srgbClr val="91A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51560" y="1481328"/>
            <a:ext cx="0" cy="3685032"/>
          </a:xfrm>
          <a:prstGeom prst="line">
            <a:avLst/>
          </a:prstGeom>
          <a:ln w="22860">
            <a:solidFill>
              <a:srgbClr val="91A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566928" y="1572768"/>
            <a:ext cx="292608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91A6C0"/>
                </a:solidFill>
                <a:latin typeface="Avenir Next"/>
              </a:rPr>
              <a:t>QUALITY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70848" y="5522976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1A6C0"/>
                </a:solidFill>
                <a:latin typeface="Avenir Next"/>
              </a:rPr>
              <a:t>TASK COMPLEXITY →</a:t>
            </a:r>
          </a:p>
        </p:txBody>
      </p:sp>
      <p:cxnSp>
        <p:nvCxnSpPr>
          <p:cNvPr id="85" name="Connector 84"/>
          <p:cNvCxnSpPr/>
          <p:nvPr/>
        </p:nvCxnSpPr>
        <p:spPr>
          <a:xfrm flipV="1">
            <a:off x="1234440" y="4343400"/>
            <a:ext cx="1645920" cy="411480"/>
          </a:xfrm>
          <a:prstGeom prst="line">
            <a:avLst/>
          </a:prstGeom>
          <a:ln w="38100">
            <a:solidFill>
              <a:srgbClr val="37E6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2880360" y="3703320"/>
            <a:ext cx="1371600" cy="640080"/>
          </a:xfrm>
          <a:prstGeom prst="line">
            <a:avLst/>
          </a:prstGeom>
          <a:ln w="38100">
            <a:solidFill>
              <a:srgbClr val="37E6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4251960" y="3429000"/>
            <a:ext cx="1463040" cy="274320"/>
          </a:xfrm>
          <a:prstGeom prst="line">
            <a:avLst/>
          </a:prstGeom>
          <a:ln w="38100">
            <a:solidFill>
              <a:srgbClr val="37E6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5715000" y="2514600"/>
            <a:ext cx="1280160" cy="914400"/>
          </a:xfrm>
          <a:prstGeom prst="line">
            <a:avLst/>
          </a:prstGeom>
          <a:ln w="38100">
            <a:solidFill>
              <a:srgbClr val="37E6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6995160" y="2057400"/>
            <a:ext cx="1645920" cy="457200"/>
          </a:xfrm>
          <a:prstGeom prst="line">
            <a:avLst/>
          </a:prstGeom>
          <a:ln w="38100">
            <a:solidFill>
              <a:srgbClr val="37E6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641080" y="1600200"/>
            <a:ext cx="1874520" cy="457200"/>
          </a:xfrm>
          <a:prstGeom prst="line">
            <a:avLst/>
          </a:prstGeom>
          <a:ln w="38100">
            <a:solidFill>
              <a:srgbClr val="37E6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1143000" y="4663440"/>
            <a:ext cx="182880" cy="182880"/>
          </a:xfrm>
          <a:prstGeom prst="ellipse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788920" y="4251960"/>
            <a:ext cx="182880" cy="182880"/>
          </a:xfrm>
          <a:prstGeom prst="ellipse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160520" y="3611879"/>
            <a:ext cx="182880" cy="182880"/>
          </a:xfrm>
          <a:prstGeom prst="ellipse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623560" y="3337560"/>
            <a:ext cx="182880" cy="182880"/>
          </a:xfrm>
          <a:prstGeom prst="ellipse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903720" y="2423160"/>
            <a:ext cx="182880" cy="182880"/>
          </a:xfrm>
          <a:prstGeom prst="ellipse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8549640" y="1965960"/>
            <a:ext cx="182880" cy="182880"/>
          </a:xfrm>
          <a:prstGeom prst="ellipse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424160" y="1508760"/>
            <a:ext cx="182880" cy="182880"/>
          </a:xfrm>
          <a:prstGeom prst="ellipse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>
            <a:off x="6172200" y="1572768"/>
            <a:ext cx="0" cy="3593592"/>
          </a:xfrm>
          <a:prstGeom prst="line">
            <a:avLst/>
          </a:prstGeom>
          <a:ln w="16510">
            <a:solidFill>
              <a:srgbClr val="FFB4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ounded Rectangle 98"/>
          <p:cNvSpPr/>
          <p:nvPr/>
        </p:nvSpPr>
        <p:spPr>
          <a:xfrm>
            <a:off x="5376672" y="1234440"/>
            <a:ext cx="160020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376672" y="1243584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B454"/>
                </a:solidFill>
                <a:latin typeface="Avenir Next"/>
              </a:rPr>
              <a:t>SPLIT HERE?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720840" y="2971800"/>
            <a:ext cx="2148840" cy="713232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720840" y="2971800"/>
            <a:ext cx="54864" cy="713232"/>
          </a:xfrm>
          <a:prstGeom prst="rect">
            <a:avLst/>
          </a:prstGeom>
          <a:solidFill>
            <a:srgbClr val="93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903720" y="310896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Distinct expertise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903720" y="342900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different prompts / tools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9144000" y="2971800"/>
            <a:ext cx="2148840" cy="713232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44000" y="2971800"/>
            <a:ext cx="54864" cy="713232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326880" y="310896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Scoped context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326880" y="342900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less interference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720840" y="3931920"/>
            <a:ext cx="2148840" cy="713232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720840" y="3931920"/>
            <a:ext cx="54864" cy="713232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903720" y="40690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Parallel work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903720" y="438912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latency gain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9144000" y="3931920"/>
            <a:ext cx="2148840" cy="713232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144000" y="3931920"/>
            <a:ext cx="54864" cy="713232"/>
          </a:xfrm>
          <a:prstGeom prst="rect">
            <a:avLst/>
          </a:prstGeom>
          <a:solidFill>
            <a:srgbClr val="43D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326880" y="40690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Independent control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326880" y="438912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permissions / evals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353312" y="5422392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7E6D5"/>
                </a:solidFill>
                <a:latin typeface="Avenir Next"/>
              </a:rPr>
              <a:t>Single agent zone: simpler, cheaper, easier to debug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-292608"/>
            <a:ext cx="658368" cy="65836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56032" y="6236208"/>
            <a:ext cx="566928" cy="56692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075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915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107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622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138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1695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685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200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2319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075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5915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7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622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138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653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1695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685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200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716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2319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60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075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5915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107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622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138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653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1695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685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200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716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82319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60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075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35915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107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22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5138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653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1695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6685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200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716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82319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075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5915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107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622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138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5653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1695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6685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7200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7716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82319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560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3075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35915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4107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4622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138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653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61695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6685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7200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716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82319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" y="6583680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91A6C0"/>
                </a:solidFill>
                <a:latin typeface="Avenir Next"/>
              </a:rPr>
              <a:t>FROM AI TO AGENTS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91A6C0"/>
                </a:solidFill>
                <a:latin typeface="Avenir Next"/>
              </a:rPr>
              <a:t>17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48640" y="384048"/>
            <a:ext cx="160020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393192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PATTERNS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85039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4F8FF"/>
                </a:solidFill>
                <a:latin typeface="Avenir Next"/>
              </a:rPr>
              <a:t>Three collaboration patterns cover most multi-agent systems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48640" y="1490472"/>
            <a:ext cx="3547872" cy="4434840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822960" y="1755648"/>
            <a:ext cx="182880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2960" y="1764792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MANAGER → WORKERS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417320" y="2331720"/>
            <a:ext cx="1828800" cy="685800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417320" y="2331720"/>
            <a:ext cx="54864" cy="685800"/>
          </a:xfrm>
          <a:prstGeom prst="rect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600200" y="2468879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MANAGER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600200" y="2788920"/>
            <a:ext cx="15087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decompose + integrate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41248" y="3794760"/>
            <a:ext cx="822960" cy="621792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3794760"/>
            <a:ext cx="54864" cy="621792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24128" y="3931920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24128" y="4251960"/>
            <a:ext cx="5029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specialist</a:t>
            </a:r>
          </a:p>
        </p:txBody>
      </p:sp>
      <p:cxnSp>
        <p:nvCxnSpPr>
          <p:cNvPr id="92" name="Connector 91"/>
          <p:cNvCxnSpPr/>
          <p:nvPr/>
        </p:nvCxnSpPr>
        <p:spPr>
          <a:xfrm flipH="1">
            <a:off x="1252728" y="3017520"/>
            <a:ext cx="1078992" cy="777240"/>
          </a:xfrm>
          <a:prstGeom prst="line">
            <a:avLst/>
          </a:prstGeom>
          <a:ln w="1524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1874519" y="3794760"/>
            <a:ext cx="822960" cy="621792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874519" y="3794760"/>
            <a:ext cx="54864" cy="621792"/>
          </a:xfrm>
          <a:prstGeom prst="rect">
            <a:avLst/>
          </a:prstGeom>
          <a:solidFill>
            <a:srgbClr val="93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057400" y="3931920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B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057400" y="4251960"/>
            <a:ext cx="5029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specialist</a:t>
            </a:r>
          </a:p>
        </p:txBody>
      </p:sp>
      <p:cxnSp>
        <p:nvCxnSpPr>
          <p:cNvPr id="97" name="Connector 96"/>
          <p:cNvCxnSpPr/>
          <p:nvPr/>
        </p:nvCxnSpPr>
        <p:spPr>
          <a:xfrm flipH="1">
            <a:off x="2286000" y="3017520"/>
            <a:ext cx="45720" cy="777240"/>
          </a:xfrm>
          <a:prstGeom prst="line">
            <a:avLst/>
          </a:prstGeom>
          <a:ln w="1524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/>
          <p:cNvSpPr/>
          <p:nvPr/>
        </p:nvSpPr>
        <p:spPr>
          <a:xfrm>
            <a:off x="2907791" y="3794760"/>
            <a:ext cx="822960" cy="621792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907791" y="3794760"/>
            <a:ext cx="54864" cy="621792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090672" y="3931920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C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090672" y="4251960"/>
            <a:ext cx="5029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specialist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2331720" y="3017520"/>
            <a:ext cx="987552" cy="777240"/>
          </a:xfrm>
          <a:prstGeom prst="line">
            <a:avLst/>
          </a:prstGeom>
          <a:ln w="1524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868680" y="4892040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1A6C0"/>
                </a:solidFill>
                <a:latin typeface="Avenir Next"/>
              </a:rPr>
              <a:t>Best for independent specialist tasks with one accountable coordinator.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315968" y="1490472"/>
            <a:ext cx="3547872" cy="4434840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4590288" y="1755648"/>
            <a:ext cx="160020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590288" y="1764792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9368FF"/>
                </a:solidFill>
                <a:latin typeface="Avenir Next"/>
              </a:rPr>
              <a:t>PIPELINE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754880" y="2331720"/>
            <a:ext cx="2240280" cy="502920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754880" y="2331720"/>
            <a:ext cx="54864" cy="50292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937760" y="2468879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RESEARCH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937760" y="2788920"/>
            <a:ext cx="1920240" cy="-27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handoff</a:t>
            </a:r>
          </a:p>
        </p:txBody>
      </p:sp>
      <p:sp>
        <p:nvSpPr>
          <p:cNvPr id="111" name="Chevron 110"/>
          <p:cNvSpPr/>
          <p:nvPr/>
        </p:nvSpPr>
        <p:spPr>
          <a:xfrm rot="5400000">
            <a:off x="5733288" y="2852927"/>
            <a:ext cx="246888" cy="228600"/>
          </a:xfrm>
          <a:prstGeom prst="chevron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4754880" y="2999232"/>
            <a:ext cx="2240280" cy="502920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754880" y="2999232"/>
            <a:ext cx="54864" cy="502920"/>
          </a:xfrm>
          <a:prstGeom prst="rect">
            <a:avLst/>
          </a:prstGeom>
          <a:solidFill>
            <a:srgbClr val="93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937760" y="3136391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ANALYSE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937760" y="3456432"/>
            <a:ext cx="1920240" cy="-27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handoff</a:t>
            </a:r>
          </a:p>
        </p:txBody>
      </p:sp>
      <p:sp>
        <p:nvSpPr>
          <p:cNvPr id="116" name="Chevron 115"/>
          <p:cNvSpPr/>
          <p:nvPr/>
        </p:nvSpPr>
        <p:spPr>
          <a:xfrm rot="5400000">
            <a:off x="5733288" y="3520439"/>
            <a:ext cx="246888" cy="228600"/>
          </a:xfrm>
          <a:prstGeom prst="chevron">
            <a:avLst/>
          </a:prstGeom>
          <a:solidFill>
            <a:srgbClr val="93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4754880" y="3666744"/>
            <a:ext cx="2240280" cy="502920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4754880" y="3666744"/>
            <a:ext cx="54864" cy="502920"/>
          </a:xfrm>
          <a:prstGeom prst="rect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937760" y="3803904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COACH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937760" y="4123944"/>
            <a:ext cx="1920240" cy="-27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handoff</a:t>
            </a:r>
          </a:p>
        </p:txBody>
      </p:sp>
      <p:sp>
        <p:nvSpPr>
          <p:cNvPr id="121" name="Chevron 120"/>
          <p:cNvSpPr/>
          <p:nvPr/>
        </p:nvSpPr>
        <p:spPr>
          <a:xfrm rot="5400000">
            <a:off x="5733288" y="4187952"/>
            <a:ext cx="246888" cy="228600"/>
          </a:xfrm>
          <a:prstGeom prst="chevron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4754880" y="4334256"/>
            <a:ext cx="2240280" cy="502920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754880" y="4334256"/>
            <a:ext cx="54864" cy="50292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937760" y="4471416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DECIDE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937760" y="4791456"/>
            <a:ext cx="1920240" cy="-27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handoff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590288" y="5321808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1A6C0"/>
                </a:solidFill>
                <a:latin typeface="Avenir Next"/>
              </a:rPr>
              <a:t>Best when each role enriches the next.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8083296" y="1490472"/>
            <a:ext cx="3547872" cy="4434840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8357616" y="1755648"/>
            <a:ext cx="182880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357616" y="1764792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B454"/>
                </a:solidFill>
                <a:latin typeface="Avenir Next"/>
              </a:rPr>
              <a:t>PARALLEL + REVIEW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8366760" y="2395728"/>
            <a:ext cx="1143000" cy="512064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366760" y="2395728"/>
            <a:ext cx="54864" cy="512064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549640" y="253288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VIEW 1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8366760" y="3145536"/>
            <a:ext cx="1143000" cy="512064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8366760" y="3145536"/>
            <a:ext cx="54864" cy="512064"/>
          </a:xfrm>
          <a:prstGeom prst="rect">
            <a:avLst/>
          </a:prstGeom>
          <a:solidFill>
            <a:srgbClr val="93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549640" y="3282696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VIEW 2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8366760" y="3895344"/>
            <a:ext cx="1143000" cy="512064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366760" y="3895344"/>
            <a:ext cx="54864" cy="5120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549640" y="403250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VIEW 3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10012680" y="2898648"/>
            <a:ext cx="1234440" cy="987552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0012680" y="2898648"/>
            <a:ext cx="54864" cy="987552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0195559" y="30358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REVIEWER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195559" y="335584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reconcile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9509760" y="2651760"/>
            <a:ext cx="502920" cy="749808"/>
          </a:xfrm>
          <a:prstGeom prst="line">
            <a:avLst/>
          </a:prstGeom>
          <a:ln w="1397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9509760" y="3401568"/>
            <a:ext cx="502920" cy="0"/>
          </a:xfrm>
          <a:prstGeom prst="line">
            <a:avLst/>
          </a:prstGeom>
          <a:ln w="1397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509760" y="3401568"/>
            <a:ext cx="502920" cy="749808"/>
          </a:xfrm>
          <a:prstGeom prst="line">
            <a:avLst/>
          </a:prstGeom>
          <a:ln w="1397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/>
          <p:cNvSpPr txBox="1"/>
          <p:nvPr/>
        </p:nvSpPr>
        <p:spPr>
          <a:xfrm>
            <a:off x="8366760" y="4892040"/>
            <a:ext cx="2788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1A6C0"/>
                </a:solidFill>
                <a:latin typeface="Avenir Next"/>
              </a:rPr>
              <a:t>Best when diversity and verification improve confidence.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-292608"/>
            <a:ext cx="658368" cy="65836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56032" y="6236208"/>
            <a:ext cx="566928" cy="56692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075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915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107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622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138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1695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685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200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2319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075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5915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7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622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138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653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1695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685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200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716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2319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60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075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5915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107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622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138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653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1695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685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200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716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82319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60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075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35915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107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22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5138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653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1695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6685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200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716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82319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075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5915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107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622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138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5653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1695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6685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7200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7716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82319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560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3075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35915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4107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4622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138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653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61695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6685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7200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716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82319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" y="6583680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91A6C0"/>
                </a:solidFill>
                <a:latin typeface="Avenir Next"/>
              </a:rPr>
              <a:t>FROM AI TO AGENTS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91A6C0"/>
                </a:solidFill>
                <a:latin typeface="Avenir Next"/>
              </a:rPr>
              <a:t>18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48640" y="384048"/>
            <a:ext cx="160020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393192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MULTI-AGENT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85039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4F8FF"/>
                </a:solidFill>
                <a:latin typeface="Avenir Next"/>
              </a:rPr>
              <a:t>Demo 3 — Placement intelligence as a specialist pipeline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38912" y="1828800"/>
            <a:ext cx="1965960" cy="2487168"/>
          </a:xfrm>
          <a:prstGeom prst="roundRect">
            <a:avLst/>
          </a:prstGeom>
          <a:solidFill>
            <a:srgbClr val="0C1628"/>
          </a:solidFill>
          <a:ln w="1524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03503" y="201168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B8CFF"/>
                </a:solidFill>
                <a:latin typeface="Avenir Next"/>
              </a:rPr>
              <a:t>01</a:t>
            </a:r>
          </a:p>
        </p:txBody>
      </p:sp>
      <p:sp>
        <p:nvSpPr>
          <p:cNvPr id="83" name="Oval 82"/>
          <p:cNvSpPr/>
          <p:nvPr/>
        </p:nvSpPr>
        <p:spPr>
          <a:xfrm>
            <a:off x="1078992" y="2359152"/>
            <a:ext cx="685800" cy="685800"/>
          </a:xfrm>
          <a:prstGeom prst="ellipse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60B18"/>
                </a:solidFill>
                <a:latin typeface="Avenir Next"/>
              </a:rPr>
              <a:t>J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76072" y="3246120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9" b="1" i="0">
                <a:solidFill>
                  <a:srgbClr val="F4F8FF"/>
                </a:solidFill>
                <a:latin typeface="Avenir Next"/>
              </a:rPr>
              <a:t>JOB RESEARCHER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3503" y="3813048"/>
            <a:ext cx="16276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" b="0" i="0">
                <a:solidFill>
                  <a:srgbClr val="91A6C0"/>
                </a:solidFill>
                <a:latin typeface="Avenir Next"/>
              </a:rPr>
              <a:t>live market signals</a:t>
            </a:r>
          </a:p>
        </p:txBody>
      </p:sp>
      <p:sp>
        <p:nvSpPr>
          <p:cNvPr id="86" name="Chevron 85"/>
          <p:cNvSpPr/>
          <p:nvPr/>
        </p:nvSpPr>
        <p:spPr>
          <a:xfrm>
            <a:off x="2450592" y="2788920"/>
            <a:ext cx="228600" cy="329184"/>
          </a:xfrm>
          <a:prstGeom prst="chevron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2779776" y="1828800"/>
            <a:ext cx="1965960" cy="2487168"/>
          </a:xfrm>
          <a:prstGeom prst="roundRect">
            <a:avLst/>
          </a:prstGeom>
          <a:solidFill>
            <a:srgbClr val="0C1628"/>
          </a:solidFill>
          <a:ln w="15240">
            <a:solidFill>
              <a:srgbClr val="93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944368" y="201168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368FF"/>
                </a:solidFill>
                <a:latin typeface="Avenir Next"/>
              </a:rPr>
              <a:t>02</a:t>
            </a:r>
          </a:p>
        </p:txBody>
      </p:sp>
      <p:sp>
        <p:nvSpPr>
          <p:cNvPr id="89" name="Oval 88"/>
          <p:cNvSpPr/>
          <p:nvPr/>
        </p:nvSpPr>
        <p:spPr>
          <a:xfrm>
            <a:off x="3419856" y="2359152"/>
            <a:ext cx="685800" cy="685800"/>
          </a:xfrm>
          <a:prstGeom prst="ellipse">
            <a:avLst/>
          </a:prstGeom>
          <a:solidFill>
            <a:srgbClr val="93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60B18"/>
                </a:solidFill>
                <a:latin typeface="Avenir Next"/>
              </a:rPr>
              <a:t>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916936" y="3246120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9" b="1" i="0">
                <a:solidFill>
                  <a:srgbClr val="F4F8FF"/>
                </a:solidFill>
                <a:latin typeface="Avenir Next"/>
              </a:rPr>
              <a:t>RESUME ANALYST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944368" y="3813048"/>
            <a:ext cx="16276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" b="0" i="0">
                <a:solidFill>
                  <a:srgbClr val="91A6C0"/>
                </a:solidFill>
                <a:latin typeface="Avenir Next"/>
              </a:rPr>
              <a:t>evidence + gaps</a:t>
            </a:r>
          </a:p>
        </p:txBody>
      </p:sp>
      <p:sp>
        <p:nvSpPr>
          <p:cNvPr id="92" name="Chevron 91"/>
          <p:cNvSpPr/>
          <p:nvPr/>
        </p:nvSpPr>
        <p:spPr>
          <a:xfrm>
            <a:off x="4791456" y="2788920"/>
            <a:ext cx="228600" cy="329184"/>
          </a:xfrm>
          <a:prstGeom prst="chevron">
            <a:avLst/>
          </a:prstGeom>
          <a:solidFill>
            <a:srgbClr val="93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5120640" y="1828800"/>
            <a:ext cx="1965960" cy="2487168"/>
          </a:xfrm>
          <a:prstGeom prst="roundRect">
            <a:avLst/>
          </a:prstGeom>
          <a:solidFill>
            <a:srgbClr val="0C1628"/>
          </a:solidFill>
          <a:ln w="15240">
            <a:solidFill>
              <a:srgbClr val="37E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285231" y="201168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7E6D5"/>
                </a:solidFill>
                <a:latin typeface="Avenir Next"/>
              </a:rPr>
              <a:t>03</a:t>
            </a:r>
          </a:p>
        </p:txBody>
      </p:sp>
      <p:sp>
        <p:nvSpPr>
          <p:cNvPr id="95" name="Oval 94"/>
          <p:cNvSpPr/>
          <p:nvPr/>
        </p:nvSpPr>
        <p:spPr>
          <a:xfrm>
            <a:off x="5760720" y="2359152"/>
            <a:ext cx="685800" cy="685800"/>
          </a:xfrm>
          <a:prstGeom prst="ellipse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60B18"/>
                </a:solidFill>
                <a:latin typeface="Avenir Next"/>
              </a:rPr>
              <a:t>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257800" y="3246120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9" b="1" i="0">
                <a:solidFill>
                  <a:srgbClr val="F4F8FF"/>
                </a:solidFill>
                <a:latin typeface="Avenir Next"/>
              </a:rPr>
              <a:t>SKILLS COACH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285231" y="3813048"/>
            <a:ext cx="16276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" b="0" i="0">
                <a:solidFill>
                  <a:srgbClr val="91A6C0"/>
                </a:solidFill>
                <a:latin typeface="Avenir Next"/>
              </a:rPr>
              <a:t>14-day milestones</a:t>
            </a:r>
          </a:p>
        </p:txBody>
      </p:sp>
      <p:sp>
        <p:nvSpPr>
          <p:cNvPr id="98" name="Chevron 97"/>
          <p:cNvSpPr/>
          <p:nvPr/>
        </p:nvSpPr>
        <p:spPr>
          <a:xfrm>
            <a:off x="7132320" y="2788920"/>
            <a:ext cx="228600" cy="329184"/>
          </a:xfrm>
          <a:prstGeom prst="chevron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7461504" y="1828800"/>
            <a:ext cx="1965960" cy="2487168"/>
          </a:xfrm>
          <a:prstGeom prst="roundRect">
            <a:avLst/>
          </a:prstGeom>
          <a:solidFill>
            <a:srgbClr val="0C1628"/>
          </a:solidFill>
          <a:ln w="1524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626096" y="201168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472B6"/>
                </a:solidFill>
                <a:latin typeface="Avenir Next"/>
              </a:rPr>
              <a:t>04</a:t>
            </a:r>
          </a:p>
        </p:txBody>
      </p:sp>
      <p:sp>
        <p:nvSpPr>
          <p:cNvPr id="101" name="Oval 100"/>
          <p:cNvSpPr/>
          <p:nvPr/>
        </p:nvSpPr>
        <p:spPr>
          <a:xfrm>
            <a:off x="8101583" y="2359152"/>
            <a:ext cx="685800" cy="68580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60B18"/>
                </a:solidFill>
                <a:latin typeface="Avenir Next"/>
              </a:rPr>
              <a:t>I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598664" y="3246120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9" b="1" i="0">
                <a:solidFill>
                  <a:srgbClr val="F4F8FF"/>
                </a:solidFill>
                <a:latin typeface="Avenir Next"/>
              </a:rPr>
              <a:t>INTERVIEWER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26096" y="3813048"/>
            <a:ext cx="16276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" b="0" i="0">
                <a:solidFill>
                  <a:srgbClr val="91A6C0"/>
                </a:solidFill>
                <a:latin typeface="Avenir Next"/>
              </a:rPr>
              <a:t>targeted questions</a:t>
            </a:r>
          </a:p>
        </p:txBody>
      </p:sp>
      <p:sp>
        <p:nvSpPr>
          <p:cNvPr id="104" name="Chevron 103"/>
          <p:cNvSpPr/>
          <p:nvPr/>
        </p:nvSpPr>
        <p:spPr>
          <a:xfrm>
            <a:off x="9473184" y="2788920"/>
            <a:ext cx="228600" cy="329184"/>
          </a:xfrm>
          <a:prstGeom prst="chevron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9802368" y="1828800"/>
            <a:ext cx="1965960" cy="2487168"/>
          </a:xfrm>
          <a:prstGeom prst="roundRect">
            <a:avLst/>
          </a:prstGeom>
          <a:solidFill>
            <a:srgbClr val="0C1628"/>
          </a:solidFill>
          <a:ln w="1524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966960" y="201168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B454"/>
                </a:solidFill>
                <a:latin typeface="Avenir Next"/>
              </a:rPr>
              <a:t>05</a:t>
            </a:r>
          </a:p>
        </p:txBody>
      </p:sp>
      <p:sp>
        <p:nvSpPr>
          <p:cNvPr id="107" name="Oval 106"/>
          <p:cNvSpPr/>
          <p:nvPr/>
        </p:nvSpPr>
        <p:spPr>
          <a:xfrm>
            <a:off x="10442448" y="2359152"/>
            <a:ext cx="685800" cy="68580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60B18"/>
                </a:solidFill>
                <a:latin typeface="Avenir Next"/>
              </a:rPr>
              <a:t>C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939528" y="3246120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9" b="1" i="0">
                <a:solidFill>
                  <a:srgbClr val="F4F8FF"/>
                </a:solidFill>
                <a:latin typeface="Avenir Next"/>
              </a:rPr>
              <a:t>CAREER MANAGER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966960" y="3813048"/>
            <a:ext cx="16276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" b="0" i="0">
                <a:solidFill>
                  <a:srgbClr val="91A6C0"/>
                </a:solidFill>
                <a:latin typeface="Avenir Next"/>
              </a:rPr>
              <a:t>apply / prepare decision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1481328" y="4901184"/>
            <a:ext cx="9235440" cy="777240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737360" y="513892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7E6D5"/>
                </a:solidFill>
                <a:latin typeface="Avenir Next"/>
              </a:rPr>
              <a:t>Shared objective: </a:t>
            </a:r>
            <a:r>
              <a:rPr sz="1300" b="0">
                <a:solidFill>
                  <a:srgbClr val="F4F8FF"/>
                </a:solidFill>
                <a:latin typeface="Avenir Next"/>
              </a:rPr>
              <a:t>turn one resume and one job description into an evidence-based placement strategy.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778240" y="5907024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91A6C0"/>
                </a:solidFill>
                <a:latin typeface="Avenir Next"/>
              </a:rPr>
              <a:t>demo_3_multi_agent.py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-292608"/>
            <a:ext cx="658368" cy="65836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56032" y="6236208"/>
            <a:ext cx="566928" cy="56692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075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915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107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622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138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1695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685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200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2319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075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5915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7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622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138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653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1695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685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200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716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2319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60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075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5915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107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622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138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653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1695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685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200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716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82319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60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075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35915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107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22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5138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653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1695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6685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200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716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82319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075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5915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107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622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138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5653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1695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6685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7200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7716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82319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560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3075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35915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4107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4622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138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653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61695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6685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7200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716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82319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" y="6583680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91A6C0"/>
                </a:solidFill>
                <a:latin typeface="Avenir Next"/>
              </a:rPr>
              <a:t>FROM AI TO AGENTS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91A6C0"/>
                </a:solidFill>
                <a:latin typeface="Avenir Next"/>
              </a:rPr>
              <a:t>19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48640" y="384048"/>
            <a:ext cx="160020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393192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COORDINATION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85039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4F8FF"/>
                </a:solidFill>
                <a:latin typeface="Avenir Next"/>
              </a:rPr>
              <a:t>Multi-agent quality depends on contracts—not agent count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1481328"/>
            <a:ext cx="5120640" cy="4526280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868680" y="1755648"/>
            <a:ext cx="1481328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68680" y="1764792"/>
            <a:ext cx="14813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MESSAGE CONTRACT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68680" y="2359152"/>
            <a:ext cx="105156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68680" y="2368296"/>
            <a:ext cx="1051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5B8CFF"/>
                </a:solidFill>
                <a:latin typeface="Avenir Next"/>
              </a:rPr>
              <a:t>TASK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48840" y="242316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4F8FF"/>
                </a:solidFill>
                <a:latin typeface="Avenir Next"/>
              </a:rPr>
              <a:t>one bounded objective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68680" y="2980944"/>
            <a:ext cx="105156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68680" y="2990088"/>
            <a:ext cx="1051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9368FF"/>
                </a:solidFill>
                <a:latin typeface="Avenir Next"/>
              </a:rPr>
              <a:t>INPUT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48840" y="304495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4F8FF"/>
                </a:solidFill>
                <a:latin typeface="Avenir Next"/>
              </a:rPr>
              <a:t>minimum relevant context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68680" y="3602736"/>
            <a:ext cx="105156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68680" y="3611880"/>
            <a:ext cx="1051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OUTPUT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48840" y="3666744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4F8FF"/>
                </a:solidFill>
                <a:latin typeface="Avenir Next"/>
              </a:rPr>
              <a:t>schema + evidence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68680" y="4224528"/>
            <a:ext cx="105156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68680" y="4233672"/>
            <a:ext cx="1051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B454"/>
                </a:solidFill>
                <a:latin typeface="Avenir Next"/>
              </a:rPr>
              <a:t>LIMITS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148840" y="428853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4F8FF"/>
                </a:solidFill>
                <a:latin typeface="Avenir Next"/>
              </a:rPr>
              <a:t>time • tokens • tools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68680" y="4846320"/>
            <a:ext cx="105156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68680" y="4855464"/>
            <a:ext cx="1051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6B6B"/>
                </a:solidFill>
                <a:latin typeface="Avenir Next"/>
              </a:rPr>
              <a:t>STATUS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48840" y="4910328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4F8FF"/>
                </a:solidFill>
                <a:latin typeface="Avenir Next"/>
              </a:rPr>
              <a:t>done • blocked • escalate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172200" y="1481328"/>
            <a:ext cx="5394960" cy="4526280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6446520" y="1755648"/>
            <a:ext cx="1353312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446520" y="1764792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9368FF"/>
                </a:solidFill>
                <a:latin typeface="Avenir Next"/>
              </a:rPr>
              <a:t>SHARED STATE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446520" y="2331720"/>
            <a:ext cx="4572000" cy="56692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446520" y="2331720"/>
            <a:ext cx="54864" cy="5669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629400" y="2468879"/>
            <a:ext cx="4251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BLACKBOARD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629400" y="2788920"/>
            <a:ext cx="4251960" cy="36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agents read/write shared facts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446520" y="3081527"/>
            <a:ext cx="4572000" cy="56692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446520" y="3081527"/>
            <a:ext cx="54864" cy="566928"/>
          </a:xfrm>
          <a:prstGeom prst="rect">
            <a:avLst/>
          </a:prstGeom>
          <a:solidFill>
            <a:srgbClr val="93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629400" y="3218687"/>
            <a:ext cx="4251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HANDOFF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629400" y="3538727"/>
            <a:ext cx="4251960" cy="36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output becomes next input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446520" y="3831335"/>
            <a:ext cx="4572000" cy="56692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446520" y="3831335"/>
            <a:ext cx="54864" cy="566928"/>
          </a:xfrm>
          <a:prstGeom prst="rect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629400" y="3968496"/>
            <a:ext cx="4251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EVENT BUS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29400" y="4288536"/>
            <a:ext cx="4251960" cy="36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agents react to events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446520" y="4581144"/>
            <a:ext cx="4572000" cy="56692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446520" y="4581144"/>
            <a:ext cx="54864" cy="566928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629400" y="4718304"/>
            <a:ext cx="4251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MANAGER STATE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29400" y="5038344"/>
            <a:ext cx="4251960" cy="36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coordinator owns progress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446520" y="543153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1A6C0"/>
                </a:solidFill>
                <a:latin typeface="Avenir Next"/>
              </a:rPr>
              <a:t>Prefer explicit state over hidden conversational assumptions.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-292608"/>
            <a:ext cx="658368" cy="65836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56032" y="6236208"/>
            <a:ext cx="566928" cy="56692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075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915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107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622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138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1695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685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200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2319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075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5915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7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622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138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653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1695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685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200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716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2319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60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075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5915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107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622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138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653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1695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685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200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716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82319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60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075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35915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107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22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5138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653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1695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6685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200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716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82319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075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5915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107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622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138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5653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1695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6685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7200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7716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82319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560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3075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35915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4107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4622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138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653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61695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6685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7200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716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82319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" y="6583680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91A6C0"/>
                </a:solidFill>
                <a:latin typeface="Avenir Next"/>
              </a:rPr>
              <a:t>FROM AI TO AGENTS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91A6C0"/>
                </a:solidFill>
                <a:latin typeface="Avenir Next"/>
              </a:rPr>
              <a:t>20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48640" y="384048"/>
            <a:ext cx="160020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393192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DECISION MATRIX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85039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4F8FF"/>
                </a:solidFill>
                <a:latin typeface="Avenir Next"/>
              </a:rPr>
              <a:t>Single versus multi-agent: architecture is a trade-off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1481328"/>
            <a:ext cx="2331720" cy="548640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77240" y="1655064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91A6C0"/>
                </a:solidFill>
                <a:latin typeface="Avenir Next"/>
              </a:rPr>
              <a:t>DIMENSION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035808" y="1481328"/>
            <a:ext cx="3749039" cy="548640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218688" y="1655064"/>
            <a:ext cx="33832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37E6D5"/>
                </a:solidFill>
                <a:latin typeface="Avenir Next"/>
              </a:rPr>
              <a:t>SINGLE AGENT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903720" y="1481328"/>
            <a:ext cx="4663440" cy="548640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086600" y="1655064"/>
            <a:ext cx="42976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B454"/>
                </a:solidFill>
                <a:latin typeface="Avenir Next"/>
              </a:rPr>
              <a:t>MULTI-AGENT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94360" y="2139696"/>
            <a:ext cx="2331720" cy="457200"/>
          </a:xfrm>
          <a:prstGeom prst="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035808" y="2139696"/>
            <a:ext cx="3749039" cy="457200"/>
          </a:xfrm>
          <a:prstGeom prst="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903720" y="2139696"/>
            <a:ext cx="4663440" cy="457200"/>
          </a:xfrm>
          <a:prstGeom prst="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77240" y="2267712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91A6C0"/>
                </a:solidFill>
                <a:latin typeface="Avenir Next"/>
              </a:rPr>
              <a:t>Best fit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218688" y="2267712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4F8FF"/>
                </a:solidFill>
                <a:latin typeface="Avenir Next"/>
              </a:rPr>
              <a:t>coherent task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086600" y="2267712"/>
            <a:ext cx="4297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4F8FF"/>
                </a:solidFill>
                <a:latin typeface="Avenir Next"/>
              </a:rPr>
              <a:t>separable specialist work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94360" y="2670048"/>
            <a:ext cx="2331720" cy="457200"/>
          </a:xfrm>
          <a:prstGeom prst="rect">
            <a:avLst/>
          </a:prstGeom>
          <a:solidFill>
            <a:srgbClr val="060B1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035808" y="2670048"/>
            <a:ext cx="3749039" cy="457200"/>
          </a:xfrm>
          <a:prstGeom prst="rect">
            <a:avLst/>
          </a:prstGeom>
          <a:solidFill>
            <a:srgbClr val="060B1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903720" y="2670048"/>
            <a:ext cx="4663440" cy="457200"/>
          </a:xfrm>
          <a:prstGeom prst="rect">
            <a:avLst/>
          </a:prstGeom>
          <a:solidFill>
            <a:srgbClr val="060B1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77240" y="2798064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91A6C0"/>
                </a:solidFill>
                <a:latin typeface="Avenir Next"/>
              </a:rPr>
              <a:t>Context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218688" y="2798064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4F8FF"/>
                </a:solidFill>
                <a:latin typeface="Avenir Next"/>
              </a:rPr>
              <a:t>shared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086600" y="2798064"/>
            <a:ext cx="4297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4F8FF"/>
                </a:solidFill>
                <a:latin typeface="Avenir Next"/>
              </a:rPr>
              <a:t>scoped per role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94360" y="3200400"/>
            <a:ext cx="2331720" cy="457200"/>
          </a:xfrm>
          <a:prstGeom prst="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035808" y="3200400"/>
            <a:ext cx="3749039" cy="457200"/>
          </a:xfrm>
          <a:prstGeom prst="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903720" y="3200400"/>
            <a:ext cx="4663440" cy="457200"/>
          </a:xfrm>
          <a:prstGeom prst="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77240" y="3328416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91A6C0"/>
                </a:solidFill>
                <a:latin typeface="Avenir Next"/>
              </a:rPr>
              <a:t>Coordination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218688" y="3328416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4F8FF"/>
                </a:solidFill>
                <a:latin typeface="Avenir Next"/>
              </a:rPr>
              <a:t>minimal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086600" y="3328416"/>
            <a:ext cx="4297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4F8FF"/>
                </a:solidFill>
                <a:latin typeface="Avenir Next"/>
              </a:rPr>
              <a:t>protocol required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94360" y="3730752"/>
            <a:ext cx="2331720" cy="457200"/>
          </a:xfrm>
          <a:prstGeom prst="rect">
            <a:avLst/>
          </a:prstGeom>
          <a:solidFill>
            <a:srgbClr val="060B1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035808" y="3730752"/>
            <a:ext cx="3749039" cy="457200"/>
          </a:xfrm>
          <a:prstGeom prst="rect">
            <a:avLst/>
          </a:prstGeom>
          <a:solidFill>
            <a:srgbClr val="060B1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903720" y="3730752"/>
            <a:ext cx="4663440" cy="457200"/>
          </a:xfrm>
          <a:prstGeom prst="rect">
            <a:avLst/>
          </a:prstGeom>
          <a:solidFill>
            <a:srgbClr val="060B1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77240" y="385876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91A6C0"/>
                </a:solidFill>
                <a:latin typeface="Avenir Next"/>
              </a:rPr>
              <a:t>Latency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218688" y="3858768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4F8FF"/>
                </a:solidFill>
                <a:latin typeface="Avenir Next"/>
              </a:rPr>
              <a:t>serial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086600" y="3858768"/>
            <a:ext cx="4297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4F8FF"/>
                </a:solidFill>
                <a:latin typeface="Avenir Next"/>
              </a:rPr>
              <a:t>parallel or pipeline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94360" y="4261104"/>
            <a:ext cx="2331720" cy="457200"/>
          </a:xfrm>
          <a:prstGeom prst="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3035808" y="4261104"/>
            <a:ext cx="3749039" cy="457200"/>
          </a:xfrm>
          <a:prstGeom prst="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903720" y="4261104"/>
            <a:ext cx="4663440" cy="457200"/>
          </a:xfrm>
          <a:prstGeom prst="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77240" y="4389120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91A6C0"/>
                </a:solidFill>
                <a:latin typeface="Avenir Next"/>
              </a:rPr>
              <a:t>Cost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218688" y="4389120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4F8FF"/>
                </a:solidFill>
                <a:latin typeface="Avenir Next"/>
              </a:rPr>
              <a:t>usually lower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086600" y="4389120"/>
            <a:ext cx="4297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4F8FF"/>
                </a:solidFill>
                <a:latin typeface="Avenir Next"/>
              </a:rPr>
              <a:t>usually higher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94360" y="4791456"/>
            <a:ext cx="2331720" cy="457200"/>
          </a:xfrm>
          <a:prstGeom prst="rect">
            <a:avLst/>
          </a:prstGeom>
          <a:solidFill>
            <a:srgbClr val="060B1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035808" y="4791456"/>
            <a:ext cx="3749039" cy="457200"/>
          </a:xfrm>
          <a:prstGeom prst="rect">
            <a:avLst/>
          </a:prstGeom>
          <a:solidFill>
            <a:srgbClr val="060B1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903720" y="4791456"/>
            <a:ext cx="4663440" cy="457200"/>
          </a:xfrm>
          <a:prstGeom prst="rect">
            <a:avLst/>
          </a:prstGeom>
          <a:solidFill>
            <a:srgbClr val="060B1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77240" y="4919472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91A6C0"/>
                </a:solidFill>
                <a:latin typeface="Avenir Next"/>
              </a:rPr>
              <a:t>Debugging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218688" y="4919472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4F8FF"/>
                </a:solidFill>
                <a:latin typeface="Avenir Next"/>
              </a:rPr>
              <a:t>one trace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086600" y="4919472"/>
            <a:ext cx="4297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4F8FF"/>
                </a:solidFill>
                <a:latin typeface="Avenir Next"/>
              </a:rPr>
              <a:t>distributed traces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94360" y="5321807"/>
            <a:ext cx="2331720" cy="457200"/>
          </a:xfrm>
          <a:prstGeom prst="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035808" y="5321807"/>
            <a:ext cx="3749039" cy="457200"/>
          </a:xfrm>
          <a:prstGeom prst="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903720" y="5321807"/>
            <a:ext cx="4663440" cy="457200"/>
          </a:xfrm>
          <a:prstGeom prst="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77240" y="5449823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91A6C0"/>
                </a:solidFill>
                <a:latin typeface="Avenir Next"/>
              </a:rPr>
              <a:t>Permissions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218688" y="5449823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4F8FF"/>
                </a:solidFill>
                <a:latin typeface="Avenir Next"/>
              </a:rPr>
              <a:t>one boundary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086600" y="5449823"/>
            <a:ext cx="4297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4F8FF"/>
                </a:solidFill>
                <a:latin typeface="Avenir Next"/>
              </a:rPr>
              <a:t>role-based boundaries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4114800" y="6062472"/>
            <a:ext cx="3977639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37E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114800" y="6071616"/>
            <a:ext cx="397763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START SIMPLE. EARN COMPLEXITY.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-292608"/>
            <a:ext cx="658368" cy="65836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56032" y="6236208"/>
            <a:ext cx="566928" cy="56692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075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915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107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622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138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1695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685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200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2319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075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5915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7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622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138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653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1695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685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200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716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2319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60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075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5915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107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622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138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653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1695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685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200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716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82319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60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075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35915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107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22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5138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653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1695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6685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200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716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82319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075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5915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107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622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138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5653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1695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6685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7200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7716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82319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560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3075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35915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4107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4622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138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653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61695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6685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7200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716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82319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" y="6583680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91A6C0"/>
                </a:solidFill>
                <a:latin typeface="Avenir Next"/>
              </a:rPr>
              <a:t>FROM AI TO AGENTS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91A6C0"/>
                </a:solidFill>
                <a:latin typeface="Avenir Next"/>
              </a:rPr>
              <a:t>21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48640" y="384048"/>
            <a:ext cx="160020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393192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DECISION FRAMEWORK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85039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4F8FF"/>
                </a:solidFill>
                <a:latin typeface="Avenir Next"/>
              </a:rPr>
              <a:t>A five-question architecture test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85800" y="1965960"/>
            <a:ext cx="1938528" cy="74980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37E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22960" y="2148840"/>
            <a:ext cx="384048" cy="384048"/>
          </a:xfrm>
          <a:prstGeom prst="ellipse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60B18"/>
                </a:solidFill>
                <a:latin typeface="Avenir Next"/>
              </a:rP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325880" y="2093976"/>
            <a:ext cx="11430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4F8FF"/>
                </a:solidFill>
                <a:latin typeface="Avenir Next"/>
              </a:rPr>
              <a:t>Can one agent solve it reliably?</a:t>
            </a:r>
          </a:p>
        </p:txBody>
      </p:sp>
      <p:sp>
        <p:nvSpPr>
          <p:cNvPr id="84" name="Chevron 83"/>
          <p:cNvSpPr/>
          <p:nvPr/>
        </p:nvSpPr>
        <p:spPr>
          <a:xfrm>
            <a:off x="2670048" y="2194560"/>
            <a:ext cx="210312" cy="274320"/>
          </a:xfrm>
          <a:prstGeom prst="chevron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2953512" y="2990088"/>
            <a:ext cx="1938528" cy="74980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090672" y="3172968"/>
            <a:ext cx="384048" cy="384048"/>
          </a:xfrm>
          <a:prstGeom prst="ellipse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60B18"/>
                </a:solidFill>
                <a:latin typeface="Avenir Next"/>
              </a:rP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593591" y="3118104"/>
            <a:ext cx="11430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4F8FF"/>
                </a:solidFill>
                <a:latin typeface="Avenir Next"/>
              </a:rPr>
              <a:t>Are subtasks genuinely separable?</a:t>
            </a:r>
          </a:p>
        </p:txBody>
      </p:sp>
      <p:sp>
        <p:nvSpPr>
          <p:cNvPr id="88" name="Chevron 87"/>
          <p:cNvSpPr/>
          <p:nvPr/>
        </p:nvSpPr>
        <p:spPr>
          <a:xfrm>
            <a:off x="4937760" y="3218688"/>
            <a:ext cx="210312" cy="274320"/>
          </a:xfrm>
          <a:prstGeom prst="chevron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5221224" y="1965960"/>
            <a:ext cx="1938528" cy="74980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93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358384" y="2148840"/>
            <a:ext cx="384048" cy="384048"/>
          </a:xfrm>
          <a:prstGeom prst="ellipse">
            <a:avLst/>
          </a:prstGeom>
          <a:solidFill>
            <a:srgbClr val="93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60B18"/>
                </a:solidFill>
                <a:latin typeface="Avenir Next"/>
              </a:rPr>
              <a:t>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861304" y="2093976"/>
            <a:ext cx="11430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4F8FF"/>
                </a:solidFill>
                <a:latin typeface="Avenir Next"/>
              </a:rPr>
              <a:t>Do roles need distinct tools or permissions?</a:t>
            </a:r>
          </a:p>
        </p:txBody>
      </p:sp>
      <p:sp>
        <p:nvSpPr>
          <p:cNvPr id="92" name="Chevron 91"/>
          <p:cNvSpPr/>
          <p:nvPr/>
        </p:nvSpPr>
        <p:spPr>
          <a:xfrm>
            <a:off x="7205472" y="2194560"/>
            <a:ext cx="210312" cy="274320"/>
          </a:xfrm>
          <a:prstGeom prst="chevron">
            <a:avLst/>
          </a:prstGeom>
          <a:solidFill>
            <a:srgbClr val="93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7488936" y="2990088"/>
            <a:ext cx="1938528" cy="74980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7626096" y="3172968"/>
            <a:ext cx="384048" cy="384048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60B18"/>
                </a:solidFill>
                <a:latin typeface="Avenir Next"/>
              </a:rP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29015" y="3118104"/>
            <a:ext cx="11430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4F8FF"/>
                </a:solidFill>
                <a:latin typeface="Avenir Next"/>
              </a:rPr>
              <a:t>Does parallelism or review improve outcomes?</a:t>
            </a:r>
          </a:p>
        </p:txBody>
      </p:sp>
      <p:sp>
        <p:nvSpPr>
          <p:cNvPr id="96" name="Chevron 95"/>
          <p:cNvSpPr/>
          <p:nvPr/>
        </p:nvSpPr>
        <p:spPr>
          <a:xfrm>
            <a:off x="9473184" y="3218688"/>
            <a:ext cx="210312" cy="274320"/>
          </a:xfrm>
          <a:prstGeom prst="chevron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9756648" y="1965960"/>
            <a:ext cx="1938528" cy="74980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43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9893808" y="2148840"/>
            <a:ext cx="384048" cy="384048"/>
          </a:xfrm>
          <a:prstGeom prst="ellipse">
            <a:avLst/>
          </a:prstGeom>
          <a:solidFill>
            <a:srgbClr val="43D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60B18"/>
                </a:solidFill>
                <a:latin typeface="Avenir Next"/>
              </a:rPr>
              <a:t>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396728" y="2093976"/>
            <a:ext cx="11430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4F8FF"/>
                </a:solidFill>
                <a:latin typeface="Avenir Next"/>
              </a:rPr>
              <a:t>Is the gain worth cost and coordination?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32688" y="4389120"/>
            <a:ext cx="4709160" cy="1051560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37E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234440" y="4617720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7E6D5"/>
                </a:solidFill>
                <a:latin typeface="Avenir Next"/>
              </a:rPr>
              <a:t>NO appears early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34440" y="5010912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4F8FF"/>
                </a:solidFill>
                <a:latin typeface="Avenir Next"/>
              </a:rPr>
              <a:t>single agent or deterministic workflow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537960" y="4389120"/>
            <a:ext cx="4709160" cy="1051560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839712" y="4617720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B454"/>
                </a:solidFill>
                <a:latin typeface="Avenir Next"/>
              </a:rPr>
              <a:t>YES survives all five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839712" y="5010912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4F8FF"/>
                </a:solidFill>
                <a:latin typeface="Avenir Next"/>
              </a:rPr>
              <a:t>multi-agent may create measurable value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-292608"/>
            <a:ext cx="658368" cy="65836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56032" y="6236208"/>
            <a:ext cx="566928" cy="56692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075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915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107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622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138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1695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685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200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2319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075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5915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7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622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138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653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1695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685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200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716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2319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60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075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5915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107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622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138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653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1695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685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200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716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82319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60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075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35915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107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22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5138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653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1695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6685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200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716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82319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075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5915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107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622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138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5653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1695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6685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7200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7716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82319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560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3075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35915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4107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4622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138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653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61695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6685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7200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716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82319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" y="6583680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91A6C0"/>
                </a:solidFill>
                <a:latin typeface="Avenir Next"/>
              </a:rPr>
              <a:t>FROM AI TO AGENTS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91A6C0"/>
                </a:solidFill>
                <a:latin typeface="Avenir Next"/>
              </a:rPr>
              <a:t>22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48640" y="384048"/>
            <a:ext cx="160020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393192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REFERENCE ARCHITECTURE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85039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4F8FF"/>
                </a:solidFill>
                <a:latin typeface="Avenir Next"/>
              </a:rPr>
              <a:t>Production architecture separates experience, intelligence and control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13232" y="1417320"/>
            <a:ext cx="7699248" cy="74980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713232" y="1417320"/>
            <a:ext cx="1828800" cy="749808"/>
          </a:xfrm>
          <a:prstGeom prst="roundRect">
            <a:avLst/>
          </a:prstGeom>
          <a:solidFill>
            <a:srgbClr val="5B8CFF"/>
          </a:solidFill>
          <a:ln w="1270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68680" y="1655064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60B18"/>
                </a:solidFill>
                <a:latin typeface="Avenir Next"/>
              </a:rPr>
              <a:t>EXPERIENCE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852928" y="1636776"/>
            <a:ext cx="5074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4F8FF"/>
                </a:solidFill>
                <a:latin typeface="Avenir Next"/>
              </a:rPr>
              <a:t>web • mobile • chat • API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13232" y="2404872"/>
            <a:ext cx="7699248" cy="74980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37E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713232" y="2404872"/>
            <a:ext cx="1828800" cy="749808"/>
          </a:xfrm>
          <a:prstGeom prst="roundRect">
            <a:avLst/>
          </a:prstGeom>
          <a:solidFill>
            <a:srgbClr val="37E6D5"/>
          </a:solidFill>
          <a:ln w="12700">
            <a:solidFill>
              <a:srgbClr val="37E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68680" y="2642615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60B18"/>
                </a:solidFill>
                <a:latin typeface="Avenir Next"/>
              </a:rPr>
              <a:t>ORCHESTRATION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852928" y="2624328"/>
            <a:ext cx="5074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4F8FF"/>
                </a:solidFill>
                <a:latin typeface="Avenir Next"/>
              </a:rPr>
              <a:t>routing • state • retries • approvals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13232" y="3392424"/>
            <a:ext cx="7699248" cy="74980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93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713232" y="3392424"/>
            <a:ext cx="1828800" cy="749808"/>
          </a:xfrm>
          <a:prstGeom prst="roundRect">
            <a:avLst/>
          </a:prstGeom>
          <a:solidFill>
            <a:srgbClr val="9368FF"/>
          </a:solidFill>
          <a:ln w="12700">
            <a:solidFill>
              <a:srgbClr val="93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68680" y="3630168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60B18"/>
                </a:solidFill>
                <a:latin typeface="Avenir Next"/>
              </a:rPr>
              <a:t>INTELLIGENCE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852928" y="3611880"/>
            <a:ext cx="5074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4F8FF"/>
                </a:solidFill>
                <a:latin typeface="Avenir Next"/>
              </a:rPr>
              <a:t>Gemini • prompts • retrieval • memory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13232" y="4379976"/>
            <a:ext cx="7699248" cy="74980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713232" y="4379976"/>
            <a:ext cx="1828800" cy="749808"/>
          </a:xfrm>
          <a:prstGeom prst="roundRect">
            <a:avLst/>
          </a:prstGeom>
          <a:solidFill>
            <a:srgbClr val="FFB454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68680" y="4617720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60B18"/>
                </a:solidFill>
                <a:latin typeface="Avenir Next"/>
              </a:rPr>
              <a:t>ACTION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852928" y="4599432"/>
            <a:ext cx="5074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4F8FF"/>
                </a:solidFill>
                <a:latin typeface="Avenir Next"/>
              </a:rPr>
              <a:t>functions • services • databases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887968" y="1417320"/>
            <a:ext cx="2542032" cy="3712463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9272016" y="1728216"/>
            <a:ext cx="1783080" cy="310896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272016" y="1737360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6B6B"/>
                </a:solidFill>
                <a:latin typeface="Avenir Next"/>
              </a:rPr>
              <a:t>CONTROL PLANE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162288" y="233172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F6B6B"/>
                </a:solidFill>
                <a:latin typeface="Avenir Next"/>
              </a:rPr>
              <a:t>IDENTITY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259568" y="233172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4F8FF"/>
                </a:solidFill>
                <a:latin typeface="Avenir Next"/>
              </a:rPr>
              <a:t>who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162288" y="2825496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F6B6B"/>
                </a:solidFill>
                <a:latin typeface="Avenir Next"/>
              </a:rPr>
              <a:t>POLICY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259568" y="282549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4F8FF"/>
                </a:solidFill>
                <a:latin typeface="Avenir Next"/>
              </a:rPr>
              <a:t>may do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62288" y="3319272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F6B6B"/>
                </a:solidFill>
                <a:latin typeface="Avenir Next"/>
              </a:rPr>
              <a:t>OBSERVE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259568" y="331927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4F8FF"/>
                </a:solidFill>
                <a:latin typeface="Avenir Next"/>
              </a:rPr>
              <a:t>what happened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162288" y="3813048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F6B6B"/>
                </a:solidFill>
                <a:latin typeface="Avenir Next"/>
              </a:rPr>
              <a:t>EVALS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259568" y="381304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4F8FF"/>
                </a:solidFill>
                <a:latin typeface="Avenir Next"/>
              </a:rPr>
              <a:t>was it good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162288" y="4306824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F6B6B"/>
                </a:solidFill>
                <a:latin typeface="Avenir Next"/>
              </a:rPr>
              <a:t>COST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59568" y="430682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4F8FF"/>
                </a:solidFill>
                <a:latin typeface="Avenir Next"/>
              </a:rPr>
              <a:t>was it worth it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13232" y="5596128"/>
            <a:ext cx="10716768" cy="438912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14400" y="5715000"/>
            <a:ext cx="103144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91A6C0"/>
                </a:solidFill>
                <a:latin typeface="Avenir Next"/>
              </a:rPr>
              <a:t>Trace every decision across model calls, tool calls, state transitions and human approvals.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-292608"/>
            <a:ext cx="658368" cy="65836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56032" y="6236208"/>
            <a:ext cx="566928" cy="56692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075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915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107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622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138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1695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685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200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2319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075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5915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7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622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138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653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1695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685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200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716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2319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60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075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5915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107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622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138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653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1695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685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200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716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82319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60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075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35915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107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22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5138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653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1695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6685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200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716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82319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075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5915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107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622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138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5653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1695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6685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7200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7716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82319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560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3075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35915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4107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4622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138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653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61695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6685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7200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716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82319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" y="6583680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91A6C0"/>
                </a:solidFill>
                <a:latin typeface="Avenir Next"/>
              </a:rPr>
              <a:t>FROM AI TO AGENTS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91A6C0"/>
                </a:solidFill>
                <a:latin typeface="Avenir Next"/>
              </a:rPr>
              <a:t>23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48640" y="384048"/>
            <a:ext cx="160020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393192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GUARDRAILS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85039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4F8FF"/>
                </a:solidFill>
                <a:latin typeface="Avenir Next"/>
              </a:rPr>
              <a:t>Autonomy becomes trustworthy when every action is bounded</a:t>
            </a:r>
          </a:p>
        </p:txBody>
      </p:sp>
      <p:sp>
        <p:nvSpPr>
          <p:cNvPr id="81" name="Oval 80"/>
          <p:cNvSpPr/>
          <p:nvPr/>
        </p:nvSpPr>
        <p:spPr>
          <a:xfrm>
            <a:off x="4800600" y="1572768"/>
            <a:ext cx="2596896" cy="2596896"/>
          </a:xfrm>
          <a:prstGeom prst="ellipse">
            <a:avLst/>
          </a:prstGeom>
          <a:solidFill>
            <a:srgbClr val="101F36"/>
          </a:solidFill>
          <a:ln w="12700">
            <a:solidFill>
              <a:srgbClr val="37E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4F8FF"/>
                </a:solidFill>
                <a:latin typeface="Avenir Next"/>
              </a:rPr>
              <a:t>CONTROLLED
AUTONOMY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94360" y="1508760"/>
            <a:ext cx="2468880" cy="914400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94360" y="1508760"/>
            <a:ext cx="54864" cy="914400"/>
          </a:xfrm>
          <a:prstGeom prst="rect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77240" y="1645919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LEAST PRIVILEGE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7240" y="1965960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only required access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3063240" y="1965960"/>
            <a:ext cx="1737360" cy="0"/>
          </a:xfrm>
          <a:prstGeom prst="line">
            <a:avLst/>
          </a:prstGeom>
          <a:ln w="17780">
            <a:solidFill>
              <a:srgbClr val="37E6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914400" y="4315968"/>
            <a:ext cx="2468880" cy="914400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14400" y="4315968"/>
            <a:ext cx="54864" cy="91440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97280" y="445312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HUMAN APPROVAL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97280" y="4773168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before commitments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3383280" y="4773168"/>
            <a:ext cx="1417320" cy="0"/>
          </a:xfrm>
          <a:prstGeom prst="line">
            <a:avLst/>
          </a:prstGeom>
          <a:ln w="17780">
            <a:solidFill>
              <a:srgbClr val="FFB4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9125712" y="1508760"/>
            <a:ext cx="2468880" cy="914400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125712" y="1508760"/>
            <a:ext cx="54864" cy="914400"/>
          </a:xfrm>
          <a:prstGeom prst="rect">
            <a:avLst/>
          </a:prstGeom>
          <a:solidFill>
            <a:srgbClr val="93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08592" y="1645919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BOUNDED RUNS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308592" y="1965960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time • spend • steps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7397496" y="1965960"/>
            <a:ext cx="1728216" cy="0"/>
          </a:xfrm>
          <a:prstGeom prst="line">
            <a:avLst/>
          </a:prstGeom>
          <a:ln w="17780">
            <a:solidFill>
              <a:srgbClr val="93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ounded Rectangle 96"/>
          <p:cNvSpPr/>
          <p:nvPr/>
        </p:nvSpPr>
        <p:spPr>
          <a:xfrm>
            <a:off x="8796528" y="4315968"/>
            <a:ext cx="2468880" cy="914400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96528" y="4315968"/>
            <a:ext cx="54864" cy="914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979407" y="445312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4F8FF"/>
                </a:solidFill>
                <a:latin typeface="Avenir Next"/>
              </a:rPr>
              <a:t>SAFE FALLBACK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79407" y="4773168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1A6C0"/>
                </a:solidFill>
                <a:latin typeface="Avenir Next"/>
              </a:rPr>
              <a:t>retry • degrade • escalate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7397496" y="4773168"/>
            <a:ext cx="1399032" cy="0"/>
          </a:xfrm>
          <a:prstGeom prst="line">
            <a:avLst/>
          </a:prstGeom>
          <a:ln w="1778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/>
          <p:cNvSpPr/>
          <p:nvPr/>
        </p:nvSpPr>
        <p:spPr>
          <a:xfrm>
            <a:off x="4233672" y="4937760"/>
            <a:ext cx="3703320" cy="310896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43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233672" y="4946904"/>
            <a:ext cx="3703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43D17A"/>
                </a:solidFill>
                <a:latin typeface="Avenir Next"/>
              </a:rPr>
              <a:t>VALIDATE INPUTS + OUTPUTS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108960" y="5733288"/>
            <a:ext cx="5989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91A6C0"/>
                </a:solidFill>
                <a:latin typeface="Avenir Next"/>
              </a:rPr>
              <a:t>High impact + low reversibility = mandatory human checkpoint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-292608"/>
            <a:ext cx="658368" cy="65836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56032" y="6236208"/>
            <a:ext cx="566928" cy="56692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075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915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107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622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138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1695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685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200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2319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075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5915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7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622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138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653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1695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685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200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716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2319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60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075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5915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107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622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138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653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1695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685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200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716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82319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60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075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35915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107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22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5138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653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1695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6685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200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716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82319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075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5915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107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622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138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5653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1695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6685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7200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7716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82319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560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3075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35915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4107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4622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138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653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61695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6685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7200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716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82319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" y="6583680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91A6C0"/>
                </a:solidFill>
                <a:latin typeface="Avenir Next"/>
              </a:rPr>
              <a:t>FROM AI TO AGENTS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91A6C0"/>
                </a:solidFill>
                <a:latin typeface="Avenir Next"/>
              </a:rPr>
              <a:t>24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48640" y="384048"/>
            <a:ext cx="160020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393192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AGENT EVALUATION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85039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4F8FF"/>
                </a:solidFill>
                <a:latin typeface="Avenir Next"/>
              </a:rPr>
              <a:t>Evaluate the system—not just the final paragraph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66928" y="1481328"/>
            <a:ext cx="1965960" cy="1078992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49808" y="1645920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37E6D5"/>
                </a:solidFill>
                <a:latin typeface="Avenir Next"/>
              </a:rPr>
              <a:t>92%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9808" y="2139696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91A6C0"/>
                </a:solidFill>
                <a:latin typeface="Avenir Next"/>
              </a:rPr>
              <a:t>TASK SUCCESS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834640" y="1481328"/>
            <a:ext cx="1965960" cy="1078992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17520" y="1645920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5B8CFF"/>
                </a:solidFill>
                <a:latin typeface="Avenir Next"/>
              </a:rPr>
              <a:t>84%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017520" y="2139696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91A6C0"/>
                </a:solidFill>
                <a:latin typeface="Avenir Next"/>
              </a:rPr>
              <a:t>TOOL ACCURACY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102352" y="1481328"/>
            <a:ext cx="1965960" cy="1078992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285232" y="1645920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B454"/>
                </a:solidFill>
                <a:latin typeface="Avenir Next"/>
              </a:rPr>
              <a:t>1.8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85232" y="2139696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91A6C0"/>
                </a:solidFill>
                <a:latin typeface="Avenir Next"/>
              </a:rPr>
              <a:t>AVG. RETRIES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370063" y="1481328"/>
            <a:ext cx="1965960" cy="1078992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552943" y="1645920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9368FF"/>
                </a:solidFill>
                <a:latin typeface="Avenir Next"/>
              </a:rPr>
              <a:t>4.2s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552943" y="2139696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91A6C0"/>
                </a:solidFill>
                <a:latin typeface="Avenir Next"/>
              </a:rPr>
              <a:t>P95 LATENCY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637776" y="1481328"/>
            <a:ext cx="1965960" cy="1078992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820655" y="1645920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43D17A"/>
                </a:solidFill>
                <a:latin typeface="Avenir Next"/>
              </a:rPr>
              <a:t>₹0.42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820655" y="2139696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91A6C0"/>
                </a:solidFill>
                <a:latin typeface="Avenir Next"/>
              </a:rPr>
              <a:t>COST / RUN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66928" y="2907792"/>
            <a:ext cx="5303520" cy="248716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841248" y="3182112"/>
            <a:ext cx="1389888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41248" y="3191256"/>
            <a:ext cx="138988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5B8CFF"/>
                </a:solidFill>
                <a:latin typeface="Avenir Next"/>
              </a:rPr>
              <a:t>OFFLINE EVALS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41248" y="3730752"/>
            <a:ext cx="45262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4F8FF"/>
                </a:solidFill>
                <a:latin typeface="Avenir Next"/>
              </a:rPr>
              <a:t>• golden tasks
• tool-selection tests
• policy simulations
• regression thresholds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236208" y="2907792"/>
            <a:ext cx="5349240" cy="248716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6510528" y="3182112"/>
            <a:ext cx="1389888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510528" y="3191256"/>
            <a:ext cx="138988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ONLINE SIGNALS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510528" y="3730752"/>
            <a:ext cx="45262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4F8FF"/>
                </a:solidFill>
                <a:latin typeface="Avenir Next"/>
              </a:rPr>
              <a:t>• completion + abandonment
• human overrides
• cost + latency
• downstream outcome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85800" y="5833872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91A6C0"/>
                </a:solidFill>
                <a:latin typeface="Avenir Next"/>
              </a:rPr>
              <a:t>For placement demos: evidence accuracy • plan feasibility • interview relevance • calendar completion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-292608"/>
            <a:ext cx="658368" cy="65836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56032" y="6236208"/>
            <a:ext cx="566928" cy="56692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075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915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107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622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138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1695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685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200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2319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075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5915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7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622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138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653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1695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685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200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716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2319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60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075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5915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107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622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138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653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1695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685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200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716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82319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60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075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35915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107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22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5138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653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1695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6685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200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716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82319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075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5915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107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622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138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5653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1695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6685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7200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7716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82319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560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3075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35915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4107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4622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138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653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61695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6685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7200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716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82319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" y="6583680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91A6C0"/>
                </a:solidFill>
                <a:latin typeface="Avenir Next"/>
              </a:rPr>
              <a:t>FROM AI TO AGENTS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91A6C0"/>
                </a:solidFill>
                <a:latin typeface="Avenir Next"/>
              </a:rPr>
              <a:t>25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48640" y="384048"/>
            <a:ext cx="160020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393192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DEMO SEQUENCE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85039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4F8FF"/>
                </a:solidFill>
                <a:latin typeface="Avenir Next"/>
              </a:rPr>
              <a:t>Live demo runbook: one storyline, increasing agency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1417320"/>
            <a:ext cx="10991088" cy="1170432"/>
          </a:xfrm>
          <a:prstGeom prst="roundRect">
            <a:avLst/>
          </a:prstGeom>
          <a:solidFill>
            <a:srgbClr val="0C1628"/>
          </a:solidFill>
          <a:ln w="1524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41248" y="1728216"/>
            <a:ext cx="512064" cy="512064"/>
          </a:xfrm>
          <a:prstGeom prst="ellipse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60B18"/>
                </a:solidFill>
                <a:latin typeface="Avenir Next"/>
              </a:rPr>
              <a:t>01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600200" y="1618488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5B8CFF"/>
                </a:solidFill>
                <a:latin typeface="Avenir Next"/>
              </a:rPr>
              <a:t>LLM CALL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00200" y="201168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4F8FF"/>
                </a:solidFill>
                <a:latin typeface="Avenir Next"/>
              </a:rPr>
              <a:t>Gap analysis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886200" y="1645920"/>
            <a:ext cx="6080760" cy="658368"/>
          </a:xfrm>
          <a:prstGeom prst="roundRect">
            <a:avLst/>
          </a:prstGeom>
          <a:solidFill>
            <a:srgbClr val="060B1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133087" y="1847088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4F8FF"/>
                </a:solidFill>
                <a:latin typeface="Menlo"/>
              </a:rPr>
              <a:t>python demo_1_llm_call.py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0378440" y="1810512"/>
            <a:ext cx="82296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378440" y="1819656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5B8CFF"/>
                </a:solidFill>
                <a:latin typeface="Avenir Next"/>
              </a:rPr>
              <a:t>2 MIN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94360" y="2862072"/>
            <a:ext cx="10991088" cy="1170432"/>
          </a:xfrm>
          <a:prstGeom prst="roundRect">
            <a:avLst/>
          </a:prstGeom>
          <a:solidFill>
            <a:srgbClr val="0C1628"/>
          </a:solidFill>
          <a:ln w="15240">
            <a:solidFill>
              <a:srgbClr val="37E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41248" y="3172968"/>
            <a:ext cx="512064" cy="512064"/>
          </a:xfrm>
          <a:prstGeom prst="ellipse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60B18"/>
                </a:solidFill>
                <a:latin typeface="Avenir Next"/>
              </a:rPr>
              <a:t>02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600200" y="3063240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7E6D5"/>
                </a:solidFill>
                <a:latin typeface="Avenir Next"/>
              </a:rPr>
              <a:t>SINGLE AGENT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600200" y="345643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4F8FF"/>
                </a:solidFill>
                <a:latin typeface="Avenir Next"/>
              </a:rPr>
              <a:t>Plan + calendar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886200" y="3090672"/>
            <a:ext cx="6080760" cy="658368"/>
          </a:xfrm>
          <a:prstGeom prst="roundRect">
            <a:avLst/>
          </a:prstGeom>
          <a:solidFill>
            <a:srgbClr val="060B1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133087" y="3291839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4F8FF"/>
                </a:solidFill>
                <a:latin typeface="Menlo"/>
              </a:rPr>
              <a:t>python demo_2_single_agent.py --days 14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0378440" y="3255264"/>
            <a:ext cx="82296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378440" y="3264408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4 MIN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94360" y="4306824"/>
            <a:ext cx="10991088" cy="1170432"/>
          </a:xfrm>
          <a:prstGeom prst="roundRect">
            <a:avLst/>
          </a:prstGeom>
          <a:solidFill>
            <a:srgbClr val="0C1628"/>
          </a:solidFill>
          <a:ln w="1524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41248" y="4617720"/>
            <a:ext cx="512064" cy="512064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60B18"/>
                </a:solidFill>
                <a:latin typeface="Avenir Next"/>
              </a:rPr>
              <a:t>03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600200" y="450799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B454"/>
                </a:solidFill>
                <a:latin typeface="Avenir Next"/>
              </a:rPr>
              <a:t>MULTI-AGENT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600200" y="4901184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4F8FF"/>
                </a:solidFill>
                <a:latin typeface="Avenir Next"/>
              </a:rPr>
              <a:t>Placement intelligence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886200" y="4535424"/>
            <a:ext cx="6080760" cy="658368"/>
          </a:xfrm>
          <a:prstGeom prst="roundRect">
            <a:avLst/>
          </a:prstGeom>
          <a:solidFill>
            <a:srgbClr val="060B1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133087" y="4736592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4F8FF"/>
                </a:solidFill>
                <a:latin typeface="Menlo"/>
              </a:rPr>
              <a:t>python demo_3_multi_agent.py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0378440" y="4700016"/>
            <a:ext cx="82296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378440" y="4709159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B454"/>
                </a:solidFill>
                <a:latin typeface="Avenir Next"/>
              </a:rPr>
              <a:t>6 MIN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874519" y="5806440"/>
            <a:ext cx="8412480" cy="40233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057400" y="5916168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91A6C0"/>
                </a:solidFill>
                <a:latin typeface="Avenir Next"/>
              </a:rPr>
              <a:t>Narrate the architecture while the output streams—do not narrate the prompt.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-292608"/>
            <a:ext cx="658368" cy="65836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56032" y="6236208"/>
            <a:ext cx="566928" cy="56692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075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915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107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622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138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1695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685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200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2319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075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5915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7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622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138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653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1695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685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200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716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2319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60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075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5915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107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622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138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653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1695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685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200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716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82319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60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075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35915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107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22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5138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653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1695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6685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200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716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82319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075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5915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107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622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138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5653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1695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6685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7200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7716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82319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560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3075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35915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4107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4622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138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653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61695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6685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7200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716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82319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" y="6583680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91A6C0"/>
                </a:solidFill>
                <a:latin typeface="Avenir Next"/>
              </a:rPr>
              <a:t>FROM AI TO AGENTS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91A6C0"/>
                </a:solidFill>
                <a:latin typeface="Avenir Next"/>
              </a:rPr>
              <a:t>26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48640" y="384048"/>
            <a:ext cx="160020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393192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FACILITATION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85039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4F8FF"/>
                </a:solidFill>
                <a:latin typeface="Avenir Next"/>
              </a:rPr>
              <a:t>A 60-minute session with three deliberate peaks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841248" y="3337560"/>
            <a:ext cx="10515600" cy="0"/>
          </a:xfrm>
          <a:prstGeom prst="line">
            <a:avLst/>
          </a:prstGeom>
          <a:ln w="3810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914400" y="3090672"/>
            <a:ext cx="493776" cy="493776"/>
          </a:xfrm>
          <a:prstGeom prst="ellipse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66928" y="221284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5B8CFF"/>
                </a:solidFill>
                <a:latin typeface="Avenir Next"/>
              </a:rPr>
              <a:t>0–5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7472" y="3822191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F4F8FF"/>
                </a:solidFill>
                <a:latin typeface="Avenir Next"/>
              </a:rPr>
              <a:t>HOOK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01751" y="422452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1A6C0"/>
                </a:solidFill>
                <a:latin typeface="Avenir Next"/>
              </a:rPr>
              <a:t>everyday AI</a:t>
            </a:r>
          </a:p>
        </p:txBody>
      </p:sp>
      <p:sp>
        <p:nvSpPr>
          <p:cNvPr id="86" name="Oval 85"/>
          <p:cNvSpPr/>
          <p:nvPr/>
        </p:nvSpPr>
        <p:spPr>
          <a:xfrm>
            <a:off x="2148840" y="3090672"/>
            <a:ext cx="493776" cy="493776"/>
          </a:xfrm>
          <a:prstGeom prst="ellipse">
            <a:avLst/>
          </a:prstGeom>
          <a:solidFill>
            <a:srgbClr val="93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801368" y="221284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9368FF"/>
                </a:solidFill>
                <a:latin typeface="Avenir Next"/>
              </a:rPr>
              <a:t>5–15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581912" y="3822191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F4F8FF"/>
                </a:solidFill>
                <a:latin typeface="Avenir Next"/>
              </a:rPr>
              <a:t>MODEL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536192" y="422452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1A6C0"/>
                </a:solidFill>
                <a:latin typeface="Avenir Next"/>
              </a:rPr>
              <a:t>AI → agents</a:t>
            </a:r>
          </a:p>
        </p:txBody>
      </p:sp>
      <p:sp>
        <p:nvSpPr>
          <p:cNvPr id="90" name="Oval 89"/>
          <p:cNvSpPr/>
          <p:nvPr/>
        </p:nvSpPr>
        <p:spPr>
          <a:xfrm>
            <a:off x="3794760" y="3090672"/>
            <a:ext cx="493776" cy="493776"/>
          </a:xfrm>
          <a:prstGeom prst="ellipse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447288" y="221284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37E6D5"/>
                </a:solidFill>
                <a:latin typeface="Avenir Next"/>
              </a:rPr>
              <a:t>15–27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227832" y="3822191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F4F8FF"/>
                </a:solidFill>
                <a:latin typeface="Avenir Next"/>
              </a:rPr>
              <a:t>SINGLE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182112" y="422452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1A6C0"/>
                </a:solidFill>
                <a:latin typeface="Avenir Next"/>
              </a:rPr>
              <a:t>loop + demo</a:t>
            </a:r>
          </a:p>
        </p:txBody>
      </p:sp>
      <p:sp>
        <p:nvSpPr>
          <p:cNvPr id="94" name="Oval 93"/>
          <p:cNvSpPr/>
          <p:nvPr/>
        </p:nvSpPr>
        <p:spPr>
          <a:xfrm>
            <a:off x="5943600" y="3090672"/>
            <a:ext cx="493776" cy="493776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596128" y="221284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B454"/>
                </a:solidFill>
                <a:latin typeface="Avenir Next"/>
              </a:rPr>
              <a:t>27–43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376672" y="3822191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F4F8FF"/>
                </a:solidFill>
                <a:latin typeface="Avenir Next"/>
              </a:rPr>
              <a:t>MULTI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330952" y="422452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1A6C0"/>
                </a:solidFill>
                <a:latin typeface="Avenir Next"/>
              </a:rPr>
              <a:t>patterns + demo</a:t>
            </a:r>
          </a:p>
        </p:txBody>
      </p:sp>
      <p:sp>
        <p:nvSpPr>
          <p:cNvPr id="98" name="Oval 97"/>
          <p:cNvSpPr/>
          <p:nvPr/>
        </p:nvSpPr>
        <p:spPr>
          <a:xfrm>
            <a:off x="8275320" y="3090672"/>
            <a:ext cx="493776" cy="493776"/>
          </a:xfrm>
          <a:prstGeom prst="ellipse">
            <a:avLst/>
          </a:prstGeom>
          <a:solidFill>
            <a:srgbClr val="43D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927848" y="221284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43D17A"/>
                </a:solidFill>
                <a:latin typeface="Avenir Next"/>
              </a:rPr>
              <a:t>43–53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708392" y="3822191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F4F8FF"/>
                </a:solidFill>
                <a:latin typeface="Avenir Next"/>
              </a:rPr>
              <a:t>PRODUCTION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662672" y="422452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1A6C0"/>
                </a:solidFill>
                <a:latin typeface="Avenir Next"/>
              </a:rPr>
              <a:t>guardrails + evals</a:t>
            </a:r>
          </a:p>
        </p:txBody>
      </p:sp>
      <p:sp>
        <p:nvSpPr>
          <p:cNvPr id="102" name="Oval 101"/>
          <p:cNvSpPr/>
          <p:nvPr/>
        </p:nvSpPr>
        <p:spPr>
          <a:xfrm>
            <a:off x="10378440" y="3090672"/>
            <a:ext cx="493776" cy="493776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030967" y="221284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472B6"/>
                </a:solidFill>
                <a:latin typeface="Avenir Next"/>
              </a:rPr>
              <a:t>53–60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811512" y="3822191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F4F8FF"/>
                </a:solidFill>
                <a:latin typeface="Avenir Next"/>
              </a:rPr>
              <a:t>DESIGN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765792" y="422452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1A6C0"/>
                </a:solidFill>
                <a:latin typeface="Avenir Next"/>
              </a:rPr>
              <a:t>audience challenge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051560" y="5257800"/>
            <a:ext cx="10104120" cy="566928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280160" y="5431536"/>
            <a:ext cx="9646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37E6D5"/>
                </a:solidFill>
                <a:latin typeface="Avenir Next"/>
              </a:rPr>
              <a:t>Audience prompt: “What daily problem around you deserves an agent—and what must remain human?”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-292608"/>
            <a:ext cx="658368" cy="65836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56032" y="6236208"/>
            <a:ext cx="566928" cy="56692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075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915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107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622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138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1695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685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200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2319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075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5915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7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622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138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653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1695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685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200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716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2319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60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075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5915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107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622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138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653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1695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685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200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716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82319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60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075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35915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107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22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5138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653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1695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6685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200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716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82319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075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5915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107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622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138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5653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1695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6685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7200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7716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82319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560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3075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35915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4107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4622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138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653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61695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6685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7200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716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82319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" y="6583680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91A6C0"/>
                </a:solidFill>
                <a:latin typeface="Avenir Next"/>
              </a:rPr>
              <a:t>FROM AI TO AGENTS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91A6C0"/>
                </a:solidFill>
                <a:latin typeface="Avenir Next"/>
              </a:rPr>
              <a:t>27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94360" y="566928"/>
            <a:ext cx="1353312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94360" y="576072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TAKEAWAY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4360" y="14173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900" b="1" i="0">
                <a:solidFill>
                  <a:srgbClr val="91A6C0"/>
                </a:solidFill>
                <a:latin typeface="Avenir Next"/>
              </a:rPr>
              <a:t>AI can generate.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4360" y="226771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700" b="1" i="0">
                <a:solidFill>
                  <a:srgbClr val="37E6D5"/>
                </a:solidFill>
                <a:latin typeface="Avenir Next"/>
              </a:rPr>
              <a:t>Agents can act.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94360" y="327355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FFB454"/>
                </a:solidFill>
                <a:latin typeface="Avenir Next"/>
              </a:rPr>
              <a:t>Multi-agent systems can collaborate.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2788920" y="4370832"/>
            <a:ext cx="6611112" cy="0"/>
          </a:xfrm>
          <a:prstGeom prst="line">
            <a:avLst/>
          </a:prstGeom>
          <a:ln w="15240">
            <a:solidFill>
              <a:srgbClr val="1D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1874519" y="4818888"/>
            <a:ext cx="84582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4F8FF"/>
                </a:solidFill>
                <a:latin typeface="Avenir Next"/>
              </a:rPr>
              <a:t>Start with the outcome. Use the simplest architecture that solves it reliably—and keep control explicit.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224528" y="5806440"/>
            <a:ext cx="3749039" cy="310896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224528" y="5815583"/>
            <a:ext cx="374903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472B6"/>
                </a:solidFill>
                <a:latin typeface="Avenir Next"/>
              </a:rPr>
              <a:t>WHAT WILL YOU TURN INTO AN AGENT?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-292608"/>
            <a:ext cx="658368" cy="65836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56032" y="6236208"/>
            <a:ext cx="566928" cy="566928"/>
          </a:xfrm>
          <a:prstGeom prst="ellipse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075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915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107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622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138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6539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1695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6851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2007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1632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23191" y="2926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60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075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5915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7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622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138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6539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1695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6851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2007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71632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23191" y="134416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60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075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5915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107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622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138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6539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1695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6851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2007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71632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823191" y="239572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60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075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35915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107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22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5138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6539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1695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66851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2007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71632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823191" y="3447287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60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075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5915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107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622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138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56539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1695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66851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72007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771632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823191" y="449884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560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3075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35915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4107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4622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138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6539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61695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66851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72007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71632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823191" y="5550408"/>
            <a:ext cx="22860" cy="22860"/>
          </a:xfrm>
          <a:prstGeom prst="ellipse">
            <a:avLst/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" y="6583680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91A6C0"/>
                </a:solidFill>
                <a:latin typeface="Avenir Next"/>
              </a:rPr>
              <a:t>FROM AI TO AGENTS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91A6C0"/>
                </a:solidFill>
                <a:latin typeface="Avenir Next"/>
              </a:rPr>
              <a:t>28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48640" y="384048"/>
            <a:ext cx="1600200" cy="310896"/>
          </a:xfrm>
          <a:prstGeom prst="roundRect">
            <a:avLst/>
          </a:prstGeom>
          <a:solidFill>
            <a:srgbClr val="101F36"/>
          </a:solidFill>
          <a:ln w="12700"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393192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E6D5"/>
                </a:solidFill>
                <a:latin typeface="Avenir Next"/>
              </a:rPr>
              <a:t>SOURCES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85039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4F8FF"/>
                </a:solidFill>
                <a:latin typeface="Avenir Next"/>
              </a:rPr>
              <a:t>References used for implementation details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60120" y="1481328"/>
            <a:ext cx="10195560" cy="65836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188720" y="1645920"/>
            <a:ext cx="329184" cy="329184"/>
          </a:xfrm>
          <a:prstGeom prst="ellipse">
            <a:avLst/>
          </a:prstGeom>
          <a:solidFill>
            <a:srgbClr val="3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60B18"/>
                </a:solidFill>
                <a:latin typeface="Avenir Next"/>
              </a:rP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737360" y="1609344"/>
            <a:ext cx="3154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F8FF"/>
                </a:solidFill>
                <a:latin typeface="Avenir Next"/>
              </a:rPr>
              <a:t>Gemini API — Getting started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46320" y="1609344"/>
            <a:ext cx="5897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7E6D5"/>
                </a:solidFill>
                <a:latin typeface="Avenir Next"/>
              </a:rPr>
              <a:t>ai.google.dev/gemini-api/docs/get-started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60120" y="2322576"/>
            <a:ext cx="10195560" cy="65836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188720" y="2487168"/>
            <a:ext cx="329184" cy="329184"/>
          </a:xfrm>
          <a:prstGeom prst="ellipse">
            <a:avLst/>
          </a:prstGeom>
          <a:solidFill>
            <a:srgbClr val="93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60B18"/>
                </a:solidFill>
                <a:latin typeface="Avenir Next"/>
              </a:rP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737360" y="2450592"/>
            <a:ext cx="3154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F8FF"/>
                </a:solidFill>
                <a:latin typeface="Avenir Next"/>
              </a:rPr>
              <a:t>Gemini API — Function calling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46320" y="2450592"/>
            <a:ext cx="5897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368FF"/>
                </a:solidFill>
                <a:latin typeface="Avenir Next"/>
              </a:rPr>
              <a:t>ai.google.dev/gemini-api/docs/function-calling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60120" y="3163824"/>
            <a:ext cx="10195560" cy="65836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88720" y="3328416"/>
            <a:ext cx="329184" cy="329184"/>
          </a:xfrm>
          <a:prstGeom prst="ellipse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60B18"/>
                </a:solidFill>
                <a:latin typeface="Avenir Next"/>
              </a:rPr>
              <a:t>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37360" y="3291840"/>
            <a:ext cx="3154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F8FF"/>
                </a:solidFill>
                <a:latin typeface="Avenir Next"/>
              </a:rPr>
              <a:t>Gemini model documentation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846320" y="3291840"/>
            <a:ext cx="5897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8CFF"/>
                </a:solidFill>
                <a:latin typeface="Avenir Next"/>
              </a:rPr>
              <a:t>ai.google.dev/gemini-api/docs/models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60120" y="4005072"/>
            <a:ext cx="10195560" cy="65836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88720" y="4169664"/>
            <a:ext cx="329184" cy="329184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60B18"/>
                </a:solidFill>
                <a:latin typeface="Avenir Next"/>
              </a:rP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737360" y="4133088"/>
            <a:ext cx="3154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F8FF"/>
                </a:solidFill>
                <a:latin typeface="Avenir Next"/>
              </a:rPr>
              <a:t>Gemini API key guidance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846320" y="4133088"/>
            <a:ext cx="5897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B454"/>
                </a:solidFill>
                <a:latin typeface="Avenir Next"/>
              </a:rPr>
              <a:t>ai.google.dev/gemini-api/docs/api-key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60120" y="4846320"/>
            <a:ext cx="10195560" cy="658368"/>
          </a:xfrm>
          <a:prstGeom prst="roundRect">
            <a:avLst/>
          </a:prstGeom>
          <a:solidFill>
            <a:srgbClr val="0C1628"/>
          </a:solidFill>
          <a:ln w="12700">
            <a:solidFill>
              <a:srgbClr val="1D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188720" y="5010912"/>
            <a:ext cx="329184" cy="329184"/>
          </a:xfrm>
          <a:prstGeom prst="ellipse">
            <a:avLst/>
          </a:prstGeom>
          <a:solidFill>
            <a:srgbClr val="43D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60B18"/>
                </a:solidFill>
                <a:latin typeface="Avenir Next"/>
              </a:rPr>
              <a:t>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737360" y="4974336"/>
            <a:ext cx="3154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F8FF"/>
                </a:solidFill>
                <a:latin typeface="Avenir Next"/>
              </a:rPr>
              <a:t>Local placement demos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846320" y="4974336"/>
            <a:ext cx="5897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3D17A"/>
                </a:solidFill>
                <a:latin typeface="Avenir Next"/>
              </a:rPr>
              <a:t>/Users/ritishjogi/Downloads/st-peters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60120" y="5897880"/>
            <a:ext cx="10195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91A6C0"/>
                </a:solidFill>
                <a:latin typeface="Avenir Next"/>
              </a:rPr>
              <a:t>Product capabilities evolve; verify model availability and API behavior before the live 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AI to Agents: Building Intelligent Systems from Single to Multi-Agent</dc:title>
  <dc:subject>Advanced dark-theme session deck with Gemini placement demos</dc:subject>
  <dc:creator>Ritish Jogi</dc:creator>
  <cp:keywords>AI agents, Gemini API, single agent, multi-agent, placement intelligence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